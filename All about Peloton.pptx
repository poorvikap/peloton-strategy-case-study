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cx="9144000" cy="5143500" type="screen16x9"/>
  <p:notesSz cx="6858000" cy="9144000"/>
  <p:embeddedFontLst>
    <p:embeddedFont>
      <p:font typeface="IBM Plex Sans" panose="020B0503050203000203" pitchFamily="34" charset="0"/>
      <p:regular r:id="rId34"/>
      <p:bold r:id="rId35"/>
      <p:italic r:id="rId36"/>
      <p:boldItalic r:id="rId37"/>
    </p:embeddedFont>
    <p:embeddedFont>
      <p:font typeface="Roboto" panose="020000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88820"/>
  </p:normalViewPr>
  <p:slideViewPr>
    <p:cSldViewPr snapToGrid="0">
      <p:cViewPr varScale="1">
        <p:scale>
          <a:sx n="131" d="100"/>
          <a:sy n="131" d="100"/>
        </p:scale>
        <p:origin x="1080"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en.wikipedia.org/wiki/Stationary_bicycle" TargetMode="External"/><Relationship Id="rId2" Type="http://schemas.openxmlformats.org/officeDocument/2006/relationships/slide" Target="../slides/slide3.xml"/><Relationship Id="rId1" Type="http://schemas.openxmlformats.org/officeDocument/2006/relationships/notesMaster" Target="../notesMasters/notesMaster1.xml"/><Relationship Id="rId5" Type="http://schemas.openxmlformats.org/officeDocument/2006/relationships/hyperlink" Target="https://en.wikipedia.org/wiki/Indoor_rower" TargetMode="External"/><Relationship Id="rId4" Type="http://schemas.openxmlformats.org/officeDocument/2006/relationships/hyperlink" Target="https://en.wikipedia.org/wiki/Treadmill"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en.wikipedia.org/wiki/Stationary_bicycle" TargetMode="External"/><Relationship Id="rId2" Type="http://schemas.openxmlformats.org/officeDocument/2006/relationships/slide" Target="../slides/slide4.xml"/><Relationship Id="rId1" Type="http://schemas.openxmlformats.org/officeDocument/2006/relationships/notesMaster" Target="../notesMasters/notesMaster1.xml"/><Relationship Id="rId5" Type="http://schemas.openxmlformats.org/officeDocument/2006/relationships/hyperlink" Target="https://en.wikipedia.org/wiki/Indoor_rower" TargetMode="External"/><Relationship Id="rId4" Type="http://schemas.openxmlformats.org/officeDocument/2006/relationships/hyperlink" Target="https://en.wikipedia.org/wiki/Treadmill"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165a6fc06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165a6fc06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2165a6fc060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2165a6fc060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21757ece7b0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21757ece7b0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50">
                <a:solidFill>
                  <a:srgbClr val="202122"/>
                </a:solidFill>
                <a:highlight>
                  <a:srgbClr val="FFFFFF"/>
                </a:highlight>
              </a:rPr>
              <a:t>Our company's products are </a:t>
            </a:r>
            <a:r>
              <a:rPr lang="en" sz="1050">
                <a:solidFill>
                  <a:srgbClr val="3366CC"/>
                </a:solidFill>
                <a:highlight>
                  <a:srgbClr val="FFFFFF"/>
                </a:highlight>
                <a:uFill>
                  <a:noFill/>
                </a:uFill>
                <a:hlinkClick r:id="rId3">
                  <a:extLst>
                    <a:ext uri="{A12FA001-AC4F-418D-AE19-62706E023703}">
                      <ahyp:hlinkClr xmlns:ahyp="http://schemas.microsoft.com/office/drawing/2018/hyperlinkcolor" val="tx"/>
                    </a:ext>
                  </a:extLst>
                </a:hlinkClick>
              </a:rPr>
              <a:t>stationary bicycles</a:t>
            </a:r>
            <a:r>
              <a:rPr lang="en" sz="1050">
                <a:solidFill>
                  <a:srgbClr val="202122"/>
                </a:solidFill>
                <a:highlight>
                  <a:srgbClr val="FFFFFF"/>
                </a:highlight>
              </a:rPr>
              <a:t>, </a:t>
            </a:r>
            <a:r>
              <a:rPr lang="en" sz="1050">
                <a:solidFill>
                  <a:srgbClr val="3366CC"/>
                </a:solidFill>
                <a:highlight>
                  <a:srgbClr val="FFFFFF"/>
                </a:highlight>
                <a:uFill>
                  <a:noFill/>
                </a:uFill>
                <a:hlinkClick r:id="rId4">
                  <a:extLst>
                    <a:ext uri="{A12FA001-AC4F-418D-AE19-62706E023703}">
                      <ahyp:hlinkClr xmlns:ahyp="http://schemas.microsoft.com/office/drawing/2018/hyperlinkcolor" val="tx"/>
                    </a:ext>
                  </a:extLst>
                </a:hlinkClick>
              </a:rPr>
              <a:t>treadmills</a:t>
            </a:r>
            <a:r>
              <a:rPr lang="en" sz="1050">
                <a:solidFill>
                  <a:srgbClr val="202122"/>
                </a:solidFill>
                <a:highlight>
                  <a:srgbClr val="FFFFFF"/>
                </a:highlight>
              </a:rPr>
              <a:t>, strength guides, </a:t>
            </a:r>
            <a:r>
              <a:rPr lang="en" sz="1050">
                <a:solidFill>
                  <a:srgbClr val="3366CC"/>
                </a:solidFill>
                <a:highlight>
                  <a:srgbClr val="FFFFFF"/>
                </a:highlight>
                <a:uFill>
                  <a:noFill/>
                </a:uFill>
                <a:hlinkClick r:id="rId5">
                  <a:extLst>
                    <a:ext uri="{A12FA001-AC4F-418D-AE19-62706E023703}">
                      <ahyp:hlinkClr xmlns:ahyp="http://schemas.microsoft.com/office/drawing/2018/hyperlinkcolor" val="tx"/>
                    </a:ext>
                  </a:extLst>
                </a:hlinkClick>
              </a:rPr>
              <a:t>indoor rowers</a:t>
            </a:r>
            <a:r>
              <a:rPr lang="en" sz="1050">
                <a:solidFill>
                  <a:srgbClr val="202122"/>
                </a:solidFill>
                <a:highlight>
                  <a:srgbClr val="FFFFFF"/>
                </a:highlight>
              </a:rPr>
              <a:t>, apparel, accessories and the Peloton app. Our exercise machines are all equipped with Internet-connected touch screens that stream live and on-demand fitness classes through a subscription service. The equipment includes built-in sensors that track metrics such as power output, providing users with real-time feedback on their performance and leaderboard rankings to compete with other users.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f99a8bf3bf_0_1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f99a8bf3bf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50">
                <a:solidFill>
                  <a:srgbClr val="202122"/>
                </a:solidFill>
                <a:highlight>
                  <a:srgbClr val="FFFFFF"/>
                </a:highlight>
              </a:rPr>
              <a:t>Our company's products are </a:t>
            </a:r>
            <a:r>
              <a:rPr lang="en" sz="1050">
                <a:solidFill>
                  <a:srgbClr val="3366CC"/>
                </a:solidFill>
                <a:highlight>
                  <a:srgbClr val="FFFFFF"/>
                </a:highlight>
                <a:uFill>
                  <a:noFill/>
                </a:uFill>
                <a:hlinkClick r:id="rId3">
                  <a:extLst>
                    <a:ext uri="{A12FA001-AC4F-418D-AE19-62706E023703}">
                      <ahyp:hlinkClr xmlns:ahyp="http://schemas.microsoft.com/office/drawing/2018/hyperlinkcolor" val="tx"/>
                    </a:ext>
                  </a:extLst>
                </a:hlinkClick>
              </a:rPr>
              <a:t>stationary bicycles</a:t>
            </a:r>
            <a:r>
              <a:rPr lang="en" sz="1050">
                <a:solidFill>
                  <a:srgbClr val="202122"/>
                </a:solidFill>
                <a:highlight>
                  <a:srgbClr val="FFFFFF"/>
                </a:highlight>
              </a:rPr>
              <a:t>, </a:t>
            </a:r>
            <a:r>
              <a:rPr lang="en" sz="1050">
                <a:solidFill>
                  <a:srgbClr val="3366CC"/>
                </a:solidFill>
                <a:highlight>
                  <a:srgbClr val="FFFFFF"/>
                </a:highlight>
                <a:uFill>
                  <a:noFill/>
                </a:uFill>
                <a:hlinkClick r:id="rId4">
                  <a:extLst>
                    <a:ext uri="{A12FA001-AC4F-418D-AE19-62706E023703}">
                      <ahyp:hlinkClr xmlns:ahyp="http://schemas.microsoft.com/office/drawing/2018/hyperlinkcolor" val="tx"/>
                    </a:ext>
                  </a:extLst>
                </a:hlinkClick>
              </a:rPr>
              <a:t>treadmills</a:t>
            </a:r>
            <a:r>
              <a:rPr lang="en" sz="1050">
                <a:solidFill>
                  <a:srgbClr val="202122"/>
                </a:solidFill>
                <a:highlight>
                  <a:srgbClr val="FFFFFF"/>
                </a:highlight>
              </a:rPr>
              <a:t>, strength guides, </a:t>
            </a:r>
            <a:r>
              <a:rPr lang="en" sz="1050">
                <a:solidFill>
                  <a:srgbClr val="3366CC"/>
                </a:solidFill>
                <a:highlight>
                  <a:srgbClr val="FFFFFF"/>
                </a:highlight>
                <a:uFill>
                  <a:noFill/>
                </a:uFill>
                <a:hlinkClick r:id="rId5">
                  <a:extLst>
                    <a:ext uri="{A12FA001-AC4F-418D-AE19-62706E023703}">
                      <ahyp:hlinkClr xmlns:ahyp="http://schemas.microsoft.com/office/drawing/2018/hyperlinkcolor" val="tx"/>
                    </a:ext>
                  </a:extLst>
                </a:hlinkClick>
              </a:rPr>
              <a:t>indoor rowers</a:t>
            </a:r>
            <a:r>
              <a:rPr lang="en" sz="1050">
                <a:solidFill>
                  <a:srgbClr val="202122"/>
                </a:solidFill>
                <a:highlight>
                  <a:srgbClr val="FFFFFF"/>
                </a:highlight>
              </a:rPr>
              <a:t>, apparel, accessories and the Peloton app. Our exercise machines are all equipped with Internet-connected touch screens that stream live and on-demand fitness classes through a subscription service. The equipment includes built-in sensors that track metrics such as power output, providing users with real-time feedback on their performance and leaderboard rankings to compete with other users.</a:t>
            </a:r>
            <a:endParaRPr sz="1050">
              <a:solidFill>
                <a:srgbClr val="202122"/>
              </a:solidFill>
              <a:highlight>
                <a:srgbClr val="FFFFFF"/>
              </a:highlight>
            </a:endParaRPr>
          </a:p>
          <a:p>
            <a:pPr marL="0" lvl="0" indent="0" algn="l" rtl="0">
              <a:lnSpc>
                <a:spcPct val="115000"/>
              </a:lnSpc>
              <a:spcBef>
                <a:spcPts val="0"/>
              </a:spcBef>
              <a:spcAft>
                <a:spcPts val="1200"/>
              </a:spcAft>
              <a:buClr>
                <a:schemeClr val="dk1"/>
              </a:buClr>
              <a:buSzPts val="1100"/>
              <a:buFont typeface="Arial"/>
              <a:buNone/>
            </a:pPr>
            <a:endParaRPr sz="1200">
              <a:solidFill>
                <a:schemeClr val="dk1"/>
              </a:solidFill>
              <a:latin typeface="IBM Plex Sans"/>
              <a:ea typeface="IBM Plex Sans"/>
              <a:cs typeface="IBM Plex Sans"/>
              <a:sym typeface="IBM Plex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1757fbcc92_2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1757fbcc92_2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1757fbcc92_2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1757fbcc92_2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Connected fitness </a:t>
            </a:r>
            <a:r>
              <a:rPr lang="en" b="1">
                <a:solidFill>
                  <a:schemeClr val="dk1"/>
                </a:solidFill>
              </a:rPr>
              <a:t>allows users to get the same personal experience they would get at a gym</a:t>
            </a:r>
            <a:r>
              <a:rPr lang="en">
                <a:solidFill>
                  <a:schemeClr val="dk1"/>
                </a:solidFill>
              </a:rPr>
              <a:t>. Just as a personal trainer would assess your strengths and weaknesses and adjust your workout accordingly, connected fitness apps monitor a person's activities to give real-time feedback.</a:t>
            </a:r>
            <a:endParaRPr>
              <a:solidFill>
                <a:schemeClr val="dk1"/>
              </a:solidFill>
            </a:endParaRPr>
          </a:p>
          <a:p>
            <a:pPr marL="0" lvl="0" indent="0" algn="l" rtl="0">
              <a:lnSpc>
                <a:spcPct val="115000"/>
              </a:lnSpc>
              <a:spcBef>
                <a:spcPts val="1200"/>
              </a:spcBef>
              <a:spcAft>
                <a:spcPts val="0"/>
              </a:spcAft>
              <a:buNone/>
            </a:pPr>
            <a:r>
              <a:rPr lang="en">
                <a:solidFill>
                  <a:schemeClr val="dk1"/>
                </a:solidFill>
              </a:rPr>
              <a:t>In 2022, over 42.6 million people used a connected fitness platform at least once a month </a:t>
            </a:r>
            <a:endParaRPr>
              <a:solidFill>
                <a:schemeClr val="dk1"/>
              </a:solidFill>
            </a:endParaRPr>
          </a:p>
          <a:p>
            <a:pPr marL="0" lvl="0" indent="0" algn="l" rtl="0">
              <a:lnSpc>
                <a:spcPct val="115000"/>
              </a:lnSpc>
              <a:spcBef>
                <a:spcPts val="0"/>
              </a:spcBef>
              <a:spcAft>
                <a:spcPts val="1200"/>
              </a:spcAft>
              <a:buClr>
                <a:schemeClr val="dk1"/>
              </a:buClr>
              <a:buSzPts val="1100"/>
              <a:buFont typeface="Arial"/>
              <a:buNone/>
            </a:pPr>
            <a:endParaRPr sz="1200">
              <a:solidFill>
                <a:schemeClr val="dk1"/>
              </a:solidFill>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1757fbcc92_2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1757fbcc92_2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1757ece7b0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1757ece7b0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Font typeface="Times New Roman"/>
              <a:buAutoNum type="arabicPeriod"/>
            </a:pPr>
            <a:r>
              <a:rPr lang="en">
                <a:solidFill>
                  <a:schemeClr val="dk1"/>
                </a:solidFill>
                <a:latin typeface="Times New Roman"/>
                <a:ea typeface="Times New Roman"/>
                <a:cs typeface="Times New Roman"/>
                <a:sym typeface="Times New Roman"/>
              </a:rPr>
              <a:t>Peloton gained popularity during the pandemic with a strong brand presence and revenue generated through customer subscriptions.</a:t>
            </a:r>
            <a:endParaRPr>
              <a:solidFill>
                <a:schemeClr val="dk1"/>
              </a:solidFill>
              <a:latin typeface="Times New Roman"/>
              <a:ea typeface="Times New Roman"/>
              <a:cs typeface="Times New Roman"/>
              <a:sym typeface="Times New Roman"/>
            </a:endParaRPr>
          </a:p>
          <a:p>
            <a:pPr marL="457200" lvl="0" indent="-298450" algn="l" rtl="0">
              <a:lnSpc>
                <a:spcPct val="115000"/>
              </a:lnSpc>
              <a:spcBef>
                <a:spcPts val="0"/>
              </a:spcBef>
              <a:spcAft>
                <a:spcPts val="0"/>
              </a:spcAft>
              <a:buClr>
                <a:schemeClr val="dk1"/>
              </a:buClr>
              <a:buSzPts val="1100"/>
              <a:buFont typeface="Times New Roman"/>
              <a:buAutoNum type="arabicPeriod"/>
            </a:pPr>
            <a:r>
              <a:rPr lang="en">
                <a:solidFill>
                  <a:schemeClr val="dk1"/>
                </a:solidFill>
                <a:latin typeface="Times New Roman"/>
                <a:ea typeface="Times New Roman"/>
                <a:cs typeface="Times New Roman"/>
                <a:sym typeface="Times New Roman"/>
              </a:rPr>
              <a:t>Despite initial success, Peloton faced multiple challenges, including supply chain issues, excessive inventory, and dropping demand.</a:t>
            </a:r>
            <a:endParaRPr>
              <a:solidFill>
                <a:schemeClr val="dk1"/>
              </a:solidFill>
              <a:latin typeface="Times New Roman"/>
              <a:ea typeface="Times New Roman"/>
              <a:cs typeface="Times New Roman"/>
              <a:sym typeface="Times New Roman"/>
            </a:endParaRPr>
          </a:p>
          <a:p>
            <a:pPr marL="457200" lvl="0" indent="-298450" algn="l" rtl="0">
              <a:lnSpc>
                <a:spcPct val="115000"/>
              </a:lnSpc>
              <a:spcBef>
                <a:spcPts val="0"/>
              </a:spcBef>
              <a:spcAft>
                <a:spcPts val="0"/>
              </a:spcAft>
              <a:buClr>
                <a:schemeClr val="dk1"/>
              </a:buClr>
              <a:buSzPts val="1100"/>
              <a:buFont typeface="Times New Roman"/>
              <a:buAutoNum type="arabicPeriod"/>
            </a:pPr>
            <a:r>
              <a:rPr lang="en">
                <a:solidFill>
                  <a:schemeClr val="dk1"/>
                </a:solidFill>
                <a:latin typeface="Times New Roman"/>
                <a:ea typeface="Times New Roman"/>
                <a:cs typeface="Times New Roman"/>
                <a:sym typeface="Times New Roman"/>
              </a:rPr>
              <a:t>Peloton's stock peaked during the pandemic at $167, but as of February 2023 dropped to $13, a 56% decrease from its IPO.</a:t>
            </a:r>
            <a:endParaRPr>
              <a:solidFill>
                <a:schemeClr val="dk1"/>
              </a:solidFill>
              <a:latin typeface="Times New Roman"/>
              <a:ea typeface="Times New Roman"/>
              <a:cs typeface="Times New Roman"/>
              <a:sym typeface="Times New Roman"/>
            </a:endParaRPr>
          </a:p>
          <a:p>
            <a:pPr marL="457200" lvl="0" indent="-298450" algn="l" rtl="0">
              <a:lnSpc>
                <a:spcPct val="115000"/>
              </a:lnSpc>
              <a:spcBef>
                <a:spcPts val="0"/>
              </a:spcBef>
              <a:spcAft>
                <a:spcPts val="0"/>
              </a:spcAft>
              <a:buClr>
                <a:schemeClr val="dk1"/>
              </a:buClr>
              <a:buSzPts val="1100"/>
              <a:buFont typeface="Times New Roman"/>
              <a:buAutoNum type="arabicPeriod"/>
            </a:pPr>
            <a:r>
              <a:rPr lang="en">
                <a:solidFill>
                  <a:schemeClr val="dk1"/>
                </a:solidFill>
                <a:latin typeface="Times New Roman"/>
                <a:ea typeface="Times New Roman"/>
                <a:cs typeface="Times New Roman"/>
                <a:sym typeface="Times New Roman"/>
              </a:rPr>
              <a:t>In order to cut costs and revive the company from its debt, Peloton underwent managerial restructuring, shut down its factory, and focused on its software offerings, which generated more profit than its physical products.</a:t>
            </a:r>
            <a:endParaRPr>
              <a:solidFill>
                <a:schemeClr val="dk1"/>
              </a:solidFill>
              <a:latin typeface="Times New Roman"/>
              <a:ea typeface="Times New Roman"/>
              <a:cs typeface="Times New Roman"/>
              <a:sym typeface="Times New Roman"/>
            </a:endParaRPr>
          </a:p>
          <a:p>
            <a:pPr marL="457200" lvl="0" indent="-298450" algn="l" rtl="0">
              <a:lnSpc>
                <a:spcPct val="115000"/>
              </a:lnSpc>
              <a:spcBef>
                <a:spcPts val="0"/>
              </a:spcBef>
              <a:spcAft>
                <a:spcPts val="0"/>
              </a:spcAft>
              <a:buClr>
                <a:schemeClr val="dk1"/>
              </a:buClr>
              <a:buSzPts val="1100"/>
              <a:buFont typeface="Times New Roman"/>
              <a:buAutoNum type="arabicPeriod"/>
            </a:pPr>
            <a:r>
              <a:rPr lang="en">
                <a:solidFill>
                  <a:schemeClr val="dk1"/>
                </a:solidFill>
                <a:latin typeface="Times New Roman"/>
                <a:ea typeface="Times New Roman"/>
                <a:cs typeface="Times New Roman"/>
                <a:sym typeface="Times New Roman"/>
              </a:rPr>
              <a:t>Peloton now faces the challenge of restoring, maintaining, and growing demand among its users, addressing buyer resistance, and managing its financial fragility.</a:t>
            </a:r>
            <a:endParaRPr>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1757fbcc92_2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21757fbcc92_2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User interviews stated 3 main reasons for attrition: </a:t>
            </a:r>
            <a:endParaRPr>
              <a:solidFill>
                <a:schemeClr val="dk1"/>
              </a:solidFill>
              <a:latin typeface="Times New Roman"/>
              <a:ea typeface="Times New Roman"/>
              <a:cs typeface="Times New Roman"/>
              <a:sym typeface="Times New Roman"/>
            </a:endParaRPr>
          </a:p>
          <a:p>
            <a:pPr marL="457200" lvl="0" indent="-298450" algn="l" rtl="0">
              <a:lnSpc>
                <a:spcPct val="115000"/>
              </a:lnSpc>
              <a:spcBef>
                <a:spcPts val="1200"/>
              </a:spcBef>
              <a:spcAft>
                <a:spcPts val="0"/>
              </a:spcAft>
              <a:buClr>
                <a:schemeClr val="dk1"/>
              </a:buClr>
              <a:buSzPts val="1100"/>
              <a:buFont typeface="Times New Roman"/>
              <a:buAutoNum type="arabicPeriod"/>
            </a:pPr>
            <a:r>
              <a:rPr lang="en">
                <a:solidFill>
                  <a:schemeClr val="dk1"/>
                </a:solidFill>
                <a:latin typeface="Times New Roman"/>
                <a:ea typeface="Times New Roman"/>
                <a:cs typeface="Times New Roman"/>
                <a:sym typeface="Times New Roman"/>
              </a:rPr>
              <a:t>Peloton's cult-like following during the pandemic which led users to become obsessed with spin classes, but eventually got burnt out seeking alternative forms of exercise like yoga and strength training.</a:t>
            </a:r>
            <a:endParaRPr>
              <a:solidFill>
                <a:schemeClr val="dk1"/>
              </a:solidFill>
              <a:latin typeface="Times New Roman"/>
              <a:ea typeface="Times New Roman"/>
              <a:cs typeface="Times New Roman"/>
              <a:sym typeface="Times New Roman"/>
            </a:endParaRPr>
          </a:p>
          <a:p>
            <a:pPr marL="457200" lvl="0" indent="-298450" algn="l" rtl="0">
              <a:lnSpc>
                <a:spcPct val="115000"/>
              </a:lnSpc>
              <a:spcBef>
                <a:spcPts val="0"/>
              </a:spcBef>
              <a:spcAft>
                <a:spcPts val="0"/>
              </a:spcAft>
              <a:buClr>
                <a:schemeClr val="dk1"/>
              </a:buClr>
              <a:buSzPts val="1100"/>
              <a:buFont typeface="Times New Roman"/>
              <a:buAutoNum type="arabicPeriod"/>
            </a:pPr>
            <a:r>
              <a:rPr lang="en">
                <a:solidFill>
                  <a:schemeClr val="dk1"/>
                </a:solidFill>
                <a:latin typeface="Times New Roman"/>
                <a:ea typeface="Times New Roman"/>
                <a:cs typeface="Times New Roman"/>
                <a:sym typeface="Times New Roman"/>
              </a:rPr>
              <a:t>With the reopening of gyms, there has been a reduced demand for at-home fitness equipment due to rising need for class variety, socializing, and separating work and exercise environments.</a:t>
            </a:r>
            <a:endParaRPr>
              <a:solidFill>
                <a:schemeClr val="dk1"/>
              </a:solidFill>
              <a:latin typeface="Times New Roman"/>
              <a:ea typeface="Times New Roman"/>
              <a:cs typeface="Times New Roman"/>
              <a:sym typeface="Times New Roman"/>
            </a:endParaRPr>
          </a:p>
          <a:p>
            <a:pPr marL="457200" lvl="0" indent="-298450" algn="l" rtl="0">
              <a:lnSpc>
                <a:spcPct val="115000"/>
              </a:lnSpc>
              <a:spcBef>
                <a:spcPts val="0"/>
              </a:spcBef>
              <a:spcAft>
                <a:spcPts val="0"/>
              </a:spcAft>
              <a:buClr>
                <a:schemeClr val="dk1"/>
              </a:buClr>
              <a:buSzPts val="1100"/>
              <a:buFont typeface="Times New Roman"/>
              <a:buAutoNum type="arabicPeriod"/>
            </a:pPr>
            <a:r>
              <a:rPr lang="en">
                <a:solidFill>
                  <a:schemeClr val="dk1"/>
                </a:solidFill>
                <a:latin typeface="Times New Roman"/>
                <a:ea typeface="Times New Roman"/>
                <a:cs typeface="Times New Roman"/>
                <a:sym typeface="Times New Roman"/>
              </a:rPr>
              <a:t>Peloton users are looking for a safe space to exercise,  amongst a community of people that hold them accountable.</a:t>
            </a:r>
            <a:endParaRPr>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21757fbcc92_4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21757fbcc92_4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Within the past year Peloton has made efforts to rebrand themselves through their</a:t>
            </a:r>
            <a:endParaRPr>
              <a:solidFill>
                <a:schemeClr val="dk1"/>
              </a:solidFill>
              <a:latin typeface="Times New Roman"/>
              <a:ea typeface="Times New Roman"/>
              <a:cs typeface="Times New Roman"/>
              <a:sym typeface="Times New Roman"/>
            </a:endParaRPr>
          </a:p>
          <a:p>
            <a:pPr marL="457200" lvl="0" indent="-298450" algn="l" rtl="0">
              <a:lnSpc>
                <a:spcPct val="115000"/>
              </a:lnSpc>
              <a:spcBef>
                <a:spcPts val="1200"/>
              </a:spcBef>
              <a:spcAft>
                <a:spcPts val="0"/>
              </a:spcAft>
              <a:buClr>
                <a:schemeClr val="dk1"/>
              </a:buClr>
              <a:buSzPts val="1100"/>
              <a:buFont typeface="Times New Roman"/>
              <a:buAutoNum type="arabicPeriod"/>
            </a:pPr>
            <a:r>
              <a:rPr lang="en">
                <a:solidFill>
                  <a:schemeClr val="dk1"/>
                </a:solidFill>
                <a:latin typeface="Times New Roman"/>
                <a:ea typeface="Times New Roman"/>
                <a:cs typeface="Times New Roman"/>
                <a:sym typeface="Times New Roman"/>
              </a:rPr>
              <a:t>new brand positioning “Motivation That Moves You” honors the motivating power of the Peloton experience in helping people lead healthier, happier lives.</a:t>
            </a:r>
            <a:endParaRPr>
              <a:solidFill>
                <a:schemeClr val="dk1"/>
              </a:solidFill>
              <a:latin typeface="Times New Roman"/>
              <a:ea typeface="Times New Roman"/>
              <a:cs typeface="Times New Roman"/>
              <a:sym typeface="Times New Roman"/>
            </a:endParaRPr>
          </a:p>
          <a:p>
            <a:pPr marL="457200" lvl="0" indent="-298450" algn="l" rtl="0">
              <a:lnSpc>
                <a:spcPct val="115000"/>
              </a:lnSpc>
              <a:spcBef>
                <a:spcPts val="0"/>
              </a:spcBef>
              <a:spcAft>
                <a:spcPts val="0"/>
              </a:spcAft>
              <a:buClr>
                <a:schemeClr val="dk1"/>
              </a:buClr>
              <a:buSzPts val="1100"/>
              <a:buFont typeface="Times New Roman"/>
              <a:buAutoNum type="arabicPeriod"/>
            </a:pPr>
            <a:r>
              <a:rPr lang="en">
                <a:solidFill>
                  <a:schemeClr val="dk1"/>
                </a:solidFill>
                <a:latin typeface="Times New Roman"/>
                <a:ea typeface="Times New Roman"/>
                <a:cs typeface="Times New Roman"/>
                <a:sym typeface="Times New Roman"/>
              </a:rPr>
              <a:t>Peloton aims to motivate consumers to work out through a combination of high-end instructors, content, music, hardware, and software, making fitness fun and encouraging dedication.</a:t>
            </a:r>
            <a:endParaRPr>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1757fbcc92_4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21757fbcc92_4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Specific positioning recommendation to achieve differentiation: </a:t>
            </a:r>
            <a:r>
              <a:rPr lang="en" b="1">
                <a:solidFill>
                  <a:schemeClr val="dk1"/>
                </a:solidFill>
                <a:latin typeface="Times New Roman"/>
                <a:ea typeface="Times New Roman"/>
                <a:cs typeface="Times New Roman"/>
                <a:sym typeface="Times New Roman"/>
              </a:rPr>
              <a:t>C</a:t>
            </a:r>
            <a:r>
              <a:rPr lang="en" b="1">
                <a:solidFill>
                  <a:schemeClr val="dk1"/>
                </a:solidFill>
                <a:highlight>
                  <a:srgbClr val="FFFFFF"/>
                </a:highlight>
                <a:latin typeface="Times New Roman"/>
                <a:ea typeface="Times New Roman"/>
                <a:cs typeface="Times New Roman"/>
                <a:sym typeface="Times New Roman"/>
              </a:rPr>
              <a:t>onnected fitness community (both in person and via digital technology) that motivates you to be your best self.</a:t>
            </a:r>
            <a:endParaRPr b="1">
              <a:solidFill>
                <a:schemeClr val="dk1"/>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b="1">
              <a:solidFill>
                <a:schemeClr val="dk1"/>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We would like Peloton to position itself in both a niche and horizontal market. We recommend a niche market because our target users have luxury needs, but we want to create an experience for all types of fitness go -ers at a price point that is affordable for them. Thus, we will have subscription models for many types of users</a:t>
            </a:r>
            <a:endParaRPr>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b="1">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21757fbcc92_4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21757fbcc92_4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Peloton’s previous differentiator was creating and emphasizing the value of a fitness community. However, as home restrictions are lifted and Peloton users are burning out we recommend a rebrand that emphasizes an </a:t>
            </a:r>
            <a:r>
              <a:rPr lang="en" b="1">
                <a:solidFill>
                  <a:schemeClr val="dk1"/>
                </a:solidFill>
                <a:latin typeface="Times New Roman"/>
                <a:ea typeface="Times New Roman"/>
                <a:cs typeface="Times New Roman"/>
                <a:sym typeface="Times New Roman"/>
              </a:rPr>
              <a:t>exclusive</a:t>
            </a:r>
            <a:r>
              <a:rPr lang="en">
                <a:solidFill>
                  <a:schemeClr val="dk1"/>
                </a:solidFill>
                <a:latin typeface="Times New Roman"/>
                <a:ea typeface="Times New Roman"/>
                <a:cs typeface="Times New Roman"/>
                <a:sym typeface="Times New Roman"/>
              </a:rPr>
              <a:t> and </a:t>
            </a:r>
            <a:r>
              <a:rPr lang="en" b="1">
                <a:solidFill>
                  <a:schemeClr val="dk1"/>
                </a:solidFill>
                <a:latin typeface="Times New Roman"/>
                <a:ea typeface="Times New Roman"/>
                <a:cs typeface="Times New Roman"/>
                <a:sym typeface="Times New Roman"/>
              </a:rPr>
              <a:t>luxury fitness experience</a:t>
            </a:r>
            <a:r>
              <a:rPr lang="en">
                <a:solidFill>
                  <a:schemeClr val="dk1"/>
                </a:solidFill>
                <a:latin typeface="Times New Roman"/>
                <a:ea typeface="Times New Roman"/>
                <a:cs typeface="Times New Roman"/>
                <a:sym typeface="Times New Roman"/>
              </a:rPr>
              <a:t> offering both virtual, and in-person classes with enhancements through gamification. </a:t>
            </a:r>
            <a:endParaRPr>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165a6fc060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2165a6fc060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Your choice of gym says something about you - your taste, your goals, your bodily idea, but we are not a gym. We are a club dedicated to a luxury fitness journey. In order to accomplish this, we recommend Peloton open studios, located primarily in major cities, that are only accessible to Peloton members. The studio will be a site for Peloton community members, events, content creation, new product testing, release parties, and fitness classes. Studio access will cost an additional one hundred dollars per month and provide flexibility to members that are craving more connection with others in the fitness community. Peloton studios provide members with a safe space to work out, connect with other members, meet their favorite trainers, and hold themselves accountable so they are better prepared to achieve their goals. This new membership model meets consumer demand while maintaining the luxury fitness experience exclusive to Peloton members. </a:t>
            </a:r>
            <a:endParaRPr>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200">
              <a:solidFill>
                <a:schemeClr val="dk1"/>
              </a:solidFill>
              <a:latin typeface="IBM Plex Sans"/>
              <a:ea typeface="IBM Plex Sans"/>
              <a:cs typeface="IBM Plex Sans"/>
              <a:sym typeface="IBM Plex Sans"/>
            </a:endParaRPr>
          </a:p>
          <a:p>
            <a:pPr marL="0" lvl="0" indent="0" algn="l" rtl="0">
              <a:spcBef>
                <a:spcPts val="0"/>
              </a:spcBef>
              <a:spcAft>
                <a:spcPts val="0"/>
              </a:spcAft>
              <a:buClr>
                <a:schemeClr val="dk1"/>
              </a:buClr>
              <a:buSzPts val="1100"/>
              <a:buFont typeface="Arial"/>
              <a:buNone/>
            </a:pPr>
            <a:endParaRPr sz="1200">
              <a:solidFill>
                <a:schemeClr val="dk1"/>
              </a:solidFill>
              <a:latin typeface="IBM Plex Sans"/>
              <a:ea typeface="IBM Plex Sans"/>
              <a:cs typeface="IBM Plex Sans"/>
              <a:sym typeface="IBM Plex Sans"/>
            </a:endParaRPr>
          </a:p>
          <a:p>
            <a:pPr marL="0" lvl="0" indent="0" algn="l" rtl="0">
              <a:spcBef>
                <a:spcPts val="0"/>
              </a:spcBef>
              <a:spcAft>
                <a:spcPts val="0"/>
              </a:spcAft>
              <a:buClr>
                <a:schemeClr val="dk1"/>
              </a:buClr>
              <a:buSzPts val="1100"/>
              <a:buFont typeface="Arial"/>
              <a:buNone/>
            </a:pPr>
            <a:endParaRPr sz="1200">
              <a:solidFill>
                <a:schemeClr val="dk1"/>
              </a:solidFill>
              <a:latin typeface="IBM Plex Sans"/>
              <a:ea typeface="IBM Plex Sans"/>
              <a:cs typeface="IBM Plex Sans"/>
              <a:sym typeface="IBM Plex Sans"/>
            </a:endParaRPr>
          </a:p>
          <a:p>
            <a:pPr marL="0" lvl="0" indent="0" algn="l" rtl="0">
              <a:spcBef>
                <a:spcPts val="0"/>
              </a:spcBef>
              <a:spcAft>
                <a:spcPts val="0"/>
              </a:spcAft>
              <a:buClr>
                <a:schemeClr val="dk1"/>
              </a:buClr>
              <a:buSzPts val="1100"/>
              <a:buFont typeface="Arial"/>
              <a:buNone/>
            </a:pPr>
            <a:r>
              <a:rPr lang="en" sz="1200">
                <a:solidFill>
                  <a:schemeClr val="dk1"/>
                </a:solidFill>
                <a:latin typeface="IBM Plex Sans"/>
                <a:ea typeface="IBM Plex Sans"/>
                <a:cs typeface="IBM Plex Sans"/>
                <a:sym typeface="IBM Plex Sans"/>
              </a:rPr>
              <a:t>Exclusivity / Luxury</a:t>
            </a:r>
            <a:endParaRPr sz="1200">
              <a:solidFill>
                <a:schemeClr val="dk1"/>
              </a:solidFill>
              <a:highlight>
                <a:srgbClr val="FFFFFF"/>
              </a:highlight>
              <a:latin typeface="IBM Plex Sans"/>
              <a:ea typeface="IBM Plex Sans"/>
              <a:cs typeface="IBM Plex Sans"/>
              <a:sym typeface="IBM Plex Sans"/>
            </a:endParaRPr>
          </a:p>
          <a:p>
            <a:pPr marL="0" lvl="0" indent="0" algn="l" rtl="0">
              <a:spcBef>
                <a:spcPts val="0"/>
              </a:spcBef>
              <a:spcAft>
                <a:spcPts val="0"/>
              </a:spcAft>
              <a:buNone/>
            </a:pPr>
            <a:r>
              <a:rPr lang="en" sz="1200">
                <a:solidFill>
                  <a:srgbClr val="333333"/>
                </a:solidFill>
                <a:highlight>
                  <a:srgbClr val="FFFFFF"/>
                </a:highlight>
                <a:latin typeface="IBM Plex Sans"/>
                <a:ea typeface="IBM Plex Sans"/>
                <a:cs typeface="IBM Plex Sans"/>
                <a:sym typeface="IBM Plex Sans"/>
              </a:rPr>
              <a:t>your choice of gym says something about </a:t>
            </a:r>
            <a:r>
              <a:rPr lang="en" sz="1200" i="1">
                <a:solidFill>
                  <a:srgbClr val="333333"/>
                </a:solidFill>
                <a:highlight>
                  <a:srgbClr val="FFFFFF"/>
                </a:highlight>
                <a:latin typeface="IBM Plex Sans"/>
                <a:ea typeface="IBM Plex Sans"/>
                <a:cs typeface="IBM Plex Sans"/>
                <a:sym typeface="IBM Plex Sans"/>
              </a:rPr>
              <a:t>you</a:t>
            </a:r>
            <a:r>
              <a:rPr lang="en" sz="1200">
                <a:solidFill>
                  <a:srgbClr val="333333"/>
                </a:solidFill>
                <a:highlight>
                  <a:srgbClr val="FFFFFF"/>
                </a:highlight>
                <a:latin typeface="IBM Plex Sans"/>
                <a:ea typeface="IBM Plex Sans"/>
                <a:cs typeface="IBM Plex Sans"/>
                <a:sym typeface="IBM Plex Sans"/>
              </a:rPr>
              <a:t>— your taste, your goals, your bodily ideal. But we are not a gym. We are a club dedicated to a luxury fitness journey</a:t>
            </a:r>
            <a:endParaRPr sz="1200">
              <a:solidFill>
                <a:srgbClr val="333333"/>
              </a:solidFill>
              <a:highlight>
                <a:srgbClr val="FFFFFF"/>
              </a:highlight>
              <a:latin typeface="IBM Plex Sans"/>
              <a:ea typeface="IBM Plex Sans"/>
              <a:cs typeface="IBM Plex Sans"/>
              <a:sym typeface="IBM Plex Sans"/>
            </a:endParaRPr>
          </a:p>
          <a:p>
            <a:pPr marL="0" lvl="0" indent="0" algn="l" rtl="0">
              <a:spcBef>
                <a:spcPts val="0"/>
              </a:spcBef>
              <a:spcAft>
                <a:spcPts val="0"/>
              </a:spcAft>
              <a:buNone/>
            </a:pPr>
            <a:endParaRPr sz="1200">
              <a:solidFill>
                <a:srgbClr val="333333"/>
              </a:solidFill>
              <a:highlight>
                <a:srgbClr val="FFFFFF"/>
              </a:highlight>
              <a:latin typeface="IBM Plex Sans"/>
              <a:ea typeface="IBM Plex Sans"/>
              <a:cs typeface="IBM Plex Sans"/>
              <a:sym typeface="IBM Plex Sans"/>
            </a:endParaRPr>
          </a:p>
          <a:p>
            <a:pPr marL="0" lvl="0" indent="0" algn="l" rtl="0">
              <a:spcBef>
                <a:spcPts val="0"/>
              </a:spcBef>
              <a:spcAft>
                <a:spcPts val="0"/>
              </a:spcAft>
              <a:buNone/>
            </a:pPr>
            <a:r>
              <a:rPr lang="en" sz="1200">
                <a:solidFill>
                  <a:srgbClr val="333333"/>
                </a:solidFill>
                <a:highlight>
                  <a:srgbClr val="FFFFFF"/>
                </a:highlight>
                <a:latin typeface="IBM Plex Sans"/>
                <a:ea typeface="IBM Plex Sans"/>
                <a:cs typeface="IBM Plex Sans"/>
                <a:sym typeface="IBM Plex Sans"/>
              </a:rPr>
              <a:t>tailored to the needs of a growing class of people who are fueled by the belief that working out is part of a ruthlessly efficient lifestyle, without all the bro-culture posturing of other workout experiences.</a:t>
            </a:r>
            <a:endParaRPr sz="1200">
              <a:solidFill>
                <a:srgbClr val="333333"/>
              </a:solidFill>
              <a:highlight>
                <a:srgbClr val="FFFFFF"/>
              </a:highlight>
              <a:latin typeface="IBM Plex Sans"/>
              <a:ea typeface="IBM Plex Sans"/>
              <a:cs typeface="IBM Plex Sans"/>
              <a:sym typeface="IBM Plex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1757fbcc92_4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21757fbcc92_4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Digital and physical community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1757fbcc92_4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1757fbcc92_4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2165a6fc060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2165a6fc060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165a6fc060_0_2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2165a6fc060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Now, let's look at Peloton from the lens of marketing mix</a:t>
            </a:r>
            <a:endParaRPr/>
          </a:p>
          <a:p>
            <a:pPr marL="0" lvl="0" indent="0" algn="l" rtl="0">
              <a:spcBef>
                <a:spcPts val="0"/>
              </a:spcBef>
              <a:spcAft>
                <a:spcPts val="0"/>
              </a:spcAft>
              <a:buNone/>
            </a:pPr>
            <a:r>
              <a:rPr lang="en"/>
              <a:t>Peloton offers connected fitness platform that includes both hardware (the Peloton Bike or Tread) and software (the Peloton app). </a:t>
            </a:r>
            <a:endParaRPr/>
          </a:p>
          <a:p>
            <a:pPr marL="0" lvl="0" indent="0" algn="l" rtl="0">
              <a:spcBef>
                <a:spcPts val="0"/>
              </a:spcBef>
              <a:spcAft>
                <a:spcPts val="0"/>
              </a:spcAft>
              <a:buNone/>
            </a:pPr>
            <a:endParaRPr/>
          </a:p>
          <a:p>
            <a:pPr marL="0" lvl="0" indent="0" algn="l" rtl="0">
              <a:spcBef>
                <a:spcPts val="0"/>
              </a:spcBef>
              <a:spcAft>
                <a:spcPts val="0"/>
              </a:spcAft>
              <a:buNone/>
            </a:pPr>
            <a:r>
              <a:rPr lang="en"/>
              <a:t>Peloton's pricing strategy is based on a subscription model, where members pay a monthly fee for access to the platform. The pricing is designed to be premium for the luxury  product offerings they have. </a:t>
            </a:r>
            <a:endParaRPr/>
          </a:p>
          <a:p>
            <a:pPr marL="0" lvl="0" indent="0" algn="l" rtl="0">
              <a:spcBef>
                <a:spcPts val="0"/>
              </a:spcBef>
              <a:spcAft>
                <a:spcPts val="0"/>
              </a:spcAft>
              <a:buNone/>
            </a:pPr>
            <a:endParaRPr/>
          </a:p>
          <a:p>
            <a:pPr marL="0" lvl="0" indent="0" algn="l" rtl="0">
              <a:spcBef>
                <a:spcPts val="0"/>
              </a:spcBef>
              <a:spcAft>
                <a:spcPts val="0"/>
              </a:spcAft>
              <a:buNone/>
            </a:pPr>
            <a:r>
              <a:rPr lang="en"/>
              <a:t>Peloton primarily sells its products and services through its websites,ecommerce platforms. Peloton also has showrooms and retail locations where members can try out the equipment and speak with experts.</a:t>
            </a:r>
            <a:endParaRPr/>
          </a:p>
          <a:p>
            <a:pPr marL="0" lvl="0" indent="0" algn="l" rtl="0">
              <a:spcBef>
                <a:spcPts val="0"/>
              </a:spcBef>
              <a:spcAft>
                <a:spcPts val="0"/>
              </a:spcAft>
              <a:buNone/>
            </a:pPr>
            <a:endParaRPr/>
          </a:p>
          <a:p>
            <a:pPr marL="0" lvl="0" indent="0" algn="l" rtl="0">
              <a:spcBef>
                <a:spcPts val="0"/>
              </a:spcBef>
              <a:spcAft>
                <a:spcPts val="0"/>
              </a:spcAft>
              <a:buNone/>
            </a:pPr>
            <a:r>
              <a:rPr lang="en"/>
              <a:t>Peloton's Promotional strategy is focused on building a community around the brand and leveraging social media, influencer marketing to reach new members.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165a6fc060_0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165a6fc060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To map the success of Peloton here are some success metrics that we would like to focus on - they are </a:t>
            </a:r>
            <a:r>
              <a:rPr lang="en" b="1" dirty="0" err="1"/>
              <a:t>categorised</a:t>
            </a:r>
            <a:r>
              <a:rPr lang="en" b="1" dirty="0"/>
              <a:t> in 2 buckets - Financial and non-financial</a:t>
            </a:r>
            <a:endParaRPr b="1" dirty="0"/>
          </a:p>
          <a:p>
            <a:pPr marL="0" lvl="0" indent="0" algn="l" rtl="0">
              <a:spcBef>
                <a:spcPts val="0"/>
              </a:spcBef>
              <a:spcAft>
                <a:spcPts val="0"/>
              </a:spcAft>
              <a:buNone/>
            </a:pPr>
            <a:endParaRPr b="1" dirty="0"/>
          </a:p>
          <a:p>
            <a:pPr marL="0" lvl="0" indent="0" algn="l" rtl="0">
              <a:spcBef>
                <a:spcPts val="0"/>
              </a:spcBef>
              <a:spcAft>
                <a:spcPts val="0"/>
              </a:spcAft>
              <a:buNone/>
            </a:pPr>
            <a:r>
              <a:rPr lang="en" b="1" dirty="0"/>
              <a:t>Non-financial </a:t>
            </a:r>
            <a:endParaRPr dirty="0"/>
          </a:p>
          <a:p>
            <a:pPr marL="457200" lvl="0" indent="-298450" algn="l" rtl="0">
              <a:spcBef>
                <a:spcPts val="0"/>
              </a:spcBef>
              <a:spcAft>
                <a:spcPts val="0"/>
              </a:spcAft>
              <a:buClr>
                <a:schemeClr val="dk1"/>
              </a:buClr>
              <a:buSzPts val="1100"/>
              <a:buChar char="●"/>
            </a:pPr>
            <a:r>
              <a:rPr lang="en" dirty="0">
                <a:solidFill>
                  <a:schemeClr val="dk1"/>
                </a:solidFill>
              </a:rPr>
              <a:t>Member retention : With this metric it can give Peloton an idea as how consistently are the subscribers engaging with the product</a:t>
            </a:r>
            <a:endParaRPr dirty="0">
              <a:solidFill>
                <a:schemeClr val="dk1"/>
              </a:solidFill>
            </a:endParaRPr>
          </a:p>
          <a:p>
            <a:pPr marL="457200" lvl="0" indent="-298450" algn="l" rtl="0">
              <a:spcBef>
                <a:spcPts val="0"/>
              </a:spcBef>
              <a:spcAft>
                <a:spcPts val="0"/>
              </a:spcAft>
              <a:buClr>
                <a:schemeClr val="dk1"/>
              </a:buClr>
              <a:buSzPts val="1100"/>
              <a:buChar char="●"/>
            </a:pPr>
            <a:r>
              <a:rPr lang="en" dirty="0"/>
              <a:t>Fun and behavioral - with this metric Peloton can get a feedback on the new gamification features they have launched and its impact on customer satisfaction/engagement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b="1" dirty="0"/>
              <a:t>Financial</a:t>
            </a:r>
            <a:endParaRPr b="1" dirty="0"/>
          </a:p>
          <a:p>
            <a:pPr marL="457200" lvl="0" indent="-298450" algn="l" rtl="0">
              <a:spcBef>
                <a:spcPts val="0"/>
              </a:spcBef>
              <a:spcAft>
                <a:spcPts val="0"/>
              </a:spcAft>
              <a:buSzPts val="1100"/>
              <a:buChar char="●"/>
            </a:pPr>
            <a:r>
              <a:rPr lang="en" dirty="0"/>
              <a:t>Return over investment </a:t>
            </a:r>
            <a:endParaRPr dirty="0"/>
          </a:p>
          <a:p>
            <a:pPr marL="914400" lvl="1" indent="-298450" algn="l" rtl="0">
              <a:spcBef>
                <a:spcPts val="0"/>
              </a:spcBef>
              <a:spcAft>
                <a:spcPts val="0"/>
              </a:spcAft>
              <a:buSzPts val="1100"/>
              <a:buChar char="○"/>
            </a:pPr>
            <a:r>
              <a:rPr lang="en" dirty="0"/>
              <a:t>With this metric Peloton would be able to gauge how their products are performing in the market. </a:t>
            </a:r>
            <a:endParaRPr dirty="0"/>
          </a:p>
          <a:p>
            <a:pPr marL="914400" lvl="1" indent="-298450" algn="l" rtl="0">
              <a:spcBef>
                <a:spcPts val="0"/>
              </a:spcBef>
              <a:spcAft>
                <a:spcPts val="0"/>
              </a:spcAft>
              <a:buSzPts val="1100"/>
              <a:buChar char="○"/>
            </a:pPr>
            <a:r>
              <a:rPr lang="en" dirty="0"/>
              <a:t>Along with this we can also track the market share of peloton to benchmark the performance against the competitors. </a:t>
            </a:r>
            <a:endParaRPr dirty="0"/>
          </a:p>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2165a6fc060_0_2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2165a6fc060_0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Before concluding, we would like to mention that the rebranding potentially might have some risks associated with it - like Resistance to adoption of peloton products due to the premium pricing or due to some external factors like inflationary economy wherein people won’t be willing to invest in the devices or subscriptions</a:t>
            </a:r>
            <a:endParaRPr/>
          </a:p>
          <a:p>
            <a:pPr marL="0" lvl="0" indent="0" algn="l" rtl="0">
              <a:spcBef>
                <a:spcPts val="0"/>
              </a:spcBef>
              <a:spcAft>
                <a:spcPts val="0"/>
              </a:spcAft>
              <a:buNone/>
            </a:pPr>
            <a:endParaRPr/>
          </a:p>
          <a:p>
            <a:pPr marL="0" lvl="0" indent="0" algn="l" rtl="0">
              <a:spcBef>
                <a:spcPts val="0"/>
              </a:spcBef>
              <a:spcAft>
                <a:spcPts val="0"/>
              </a:spcAft>
              <a:buNone/>
            </a:pPr>
            <a:r>
              <a:rPr lang="en"/>
              <a:t>And as Peloton has physical products there is a possibility of some unprecedented product recalls as well.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165a6fc060_0_2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2165a6fc060_0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 sum it up, due to their significant decline in sales after pandemic, it is essential that Peloton invests in rebranding efforts to enhance the experience and regain their financial stability while making fitness fun and motivating.  </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21757fbcc92_4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21757fbcc92_4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1757fbcc92_2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1757fbcc92_2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21757fbcc92_2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21757fbcc92_2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a:solidFill>
                  <a:schemeClr val="dk1"/>
                </a:solidFill>
                <a:latin typeface="Times New Roman"/>
                <a:ea typeface="Times New Roman"/>
                <a:cs typeface="Times New Roman"/>
                <a:sym typeface="Times New Roman"/>
              </a:rPr>
              <a:t>Hierarchy of effects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757fbcc92_2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21757fbcc92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2165a6fc060_0_1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2165a6fc060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1de8e13ab2f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1de8e13ab2f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21b272b2ac1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21b272b2ac1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21b272b2ac1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21b272b2ac1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21b272b2ac1_3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21b272b2ac1_3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1de8e13ab2f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1de8e13ab2f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1de8e13ab2f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1de8e13ab2f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jpe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png"/><Relationship Id="rId7"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3.jpeg"/><Relationship Id="rId5" Type="http://schemas.openxmlformats.org/officeDocument/2006/relationships/image" Target="../media/image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35.jpe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36.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69263" y="1423737"/>
            <a:ext cx="7805475" cy="2296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8"/>
        <p:cNvGrpSpPr/>
        <p:nvPr/>
      </p:nvGrpSpPr>
      <p:grpSpPr>
        <a:xfrm>
          <a:off x="0" y="0"/>
          <a:ext cx="0" cy="0"/>
          <a:chOff x="0" y="0"/>
          <a:chExt cx="0" cy="0"/>
        </a:xfrm>
      </p:grpSpPr>
      <p:sp>
        <p:nvSpPr>
          <p:cNvPr id="59" name="Google Shape;59;p14"/>
          <p:cNvSpPr/>
          <p:nvPr/>
        </p:nvSpPr>
        <p:spPr>
          <a:xfrm>
            <a:off x="456625" y="230500"/>
            <a:ext cx="30717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0" name="Google Shape;60;p14"/>
          <p:cNvPicPr preferRelativeResize="0"/>
          <p:nvPr/>
        </p:nvPicPr>
        <p:blipFill rotWithShape="1">
          <a:blip r:embed="rId3">
            <a:alphaModFix/>
          </a:blip>
          <a:srcRect r="75266" b="15604"/>
          <a:stretch/>
        </p:blipFill>
        <p:spPr>
          <a:xfrm>
            <a:off x="311700" y="388575"/>
            <a:ext cx="3071676" cy="685600"/>
          </a:xfrm>
          <a:prstGeom prst="rect">
            <a:avLst/>
          </a:prstGeom>
          <a:noFill/>
          <a:ln>
            <a:noFill/>
          </a:ln>
        </p:spPr>
      </p:pic>
      <p:sp>
        <p:nvSpPr>
          <p:cNvPr id="61" name="Google Shape;61;p14"/>
          <p:cNvSpPr txBox="1">
            <a:spLocks noGrp="1"/>
          </p:cNvSpPr>
          <p:nvPr>
            <p:ph type="title"/>
          </p:nvPr>
        </p:nvSpPr>
        <p:spPr>
          <a:xfrm>
            <a:off x="515825"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Peloton</a:t>
            </a:r>
            <a:endParaRPr b="1">
              <a:solidFill>
                <a:schemeClr val="lt1"/>
              </a:solidFill>
              <a:latin typeface="IBM Plex Sans"/>
              <a:ea typeface="IBM Plex Sans"/>
              <a:cs typeface="IBM Plex Sans"/>
              <a:sym typeface="IBM Plex Sans"/>
            </a:endParaRPr>
          </a:p>
        </p:txBody>
      </p:sp>
      <p:sp>
        <p:nvSpPr>
          <p:cNvPr id="62" name="Google Shape;62;p14"/>
          <p:cNvSpPr txBox="1">
            <a:spLocks noGrp="1"/>
          </p:cNvSpPr>
          <p:nvPr>
            <p:ph type="body" idx="1"/>
          </p:nvPr>
        </p:nvSpPr>
        <p:spPr>
          <a:xfrm>
            <a:off x="311700" y="3278050"/>
            <a:ext cx="3604800" cy="15723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endParaRPr sz="1500">
              <a:solidFill>
                <a:schemeClr val="lt1"/>
              </a:solidFill>
              <a:latin typeface="IBM Plex Sans"/>
              <a:ea typeface="IBM Plex Sans"/>
              <a:cs typeface="IBM Plex Sans"/>
              <a:sym typeface="IBM Plex Sans"/>
            </a:endParaRPr>
          </a:p>
          <a:p>
            <a:pPr marL="0" lvl="0" indent="0" algn="l" rtl="0">
              <a:lnSpc>
                <a:spcPct val="100000"/>
              </a:lnSpc>
              <a:spcBef>
                <a:spcPts val="1200"/>
              </a:spcBef>
              <a:spcAft>
                <a:spcPts val="1200"/>
              </a:spcAft>
              <a:buNone/>
            </a:pPr>
            <a:endParaRPr sz="1200" b="1">
              <a:solidFill>
                <a:schemeClr val="lt1"/>
              </a:solidFill>
              <a:latin typeface="IBM Plex Sans"/>
              <a:ea typeface="IBM Plex Sans"/>
              <a:cs typeface="IBM Plex Sans"/>
              <a:sym typeface="IBM Plex Sans"/>
            </a:endParaRPr>
          </a:p>
        </p:txBody>
      </p:sp>
      <p:pic>
        <p:nvPicPr>
          <p:cNvPr id="63" name="Google Shape;63;p1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pic>
        <p:nvPicPr>
          <p:cNvPr id="64" name="Google Shape;64;p14"/>
          <p:cNvPicPr preferRelativeResize="0"/>
          <p:nvPr/>
        </p:nvPicPr>
        <p:blipFill rotWithShape="1">
          <a:blip r:embed="rId5" cstate="email">
            <a:alphaModFix/>
            <a:extLst>
              <a:ext uri="{28A0092B-C50C-407E-A947-70E740481C1C}">
                <a14:useLocalDpi xmlns:a14="http://schemas.microsoft.com/office/drawing/2010/main"/>
              </a:ext>
            </a:extLst>
          </a:blip>
          <a:srcRect t="14797" b="14972"/>
          <a:stretch/>
        </p:blipFill>
        <p:spPr>
          <a:xfrm>
            <a:off x="4875775" y="235956"/>
            <a:ext cx="3916326" cy="1449000"/>
          </a:xfrm>
          <a:prstGeom prst="rect">
            <a:avLst/>
          </a:prstGeom>
          <a:noFill/>
          <a:ln>
            <a:noFill/>
          </a:ln>
        </p:spPr>
      </p:pic>
      <p:sp>
        <p:nvSpPr>
          <p:cNvPr id="65" name="Google Shape;65;p14"/>
          <p:cNvSpPr txBox="1">
            <a:spLocks noGrp="1"/>
          </p:cNvSpPr>
          <p:nvPr>
            <p:ph type="body" idx="1"/>
          </p:nvPr>
        </p:nvSpPr>
        <p:spPr>
          <a:xfrm>
            <a:off x="271450" y="1379450"/>
            <a:ext cx="8520600" cy="35469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endParaRPr sz="1500">
              <a:solidFill>
                <a:schemeClr val="lt1"/>
              </a:solidFill>
              <a:latin typeface="IBM Plex Sans"/>
              <a:ea typeface="IBM Plex Sans"/>
              <a:cs typeface="IBM Plex Sans"/>
              <a:sym typeface="IBM Plex Sans"/>
            </a:endParaRPr>
          </a:p>
          <a:p>
            <a:pPr marL="0" lvl="0" indent="0" algn="l" rtl="0">
              <a:spcBef>
                <a:spcPts val="0"/>
              </a:spcBef>
              <a:spcAft>
                <a:spcPts val="0"/>
              </a:spcAft>
              <a:buNone/>
            </a:pPr>
            <a:endParaRPr sz="1300">
              <a:solidFill>
                <a:schemeClr val="lt1"/>
              </a:solidFill>
              <a:latin typeface="IBM Plex Sans"/>
              <a:ea typeface="IBM Plex Sans"/>
              <a:cs typeface="IBM Plex Sans"/>
              <a:sym typeface="IBM Plex Sans"/>
            </a:endParaRPr>
          </a:p>
          <a:p>
            <a:pPr marL="457200" lvl="0" indent="-328453" algn="l" rtl="0">
              <a:spcBef>
                <a:spcPts val="0"/>
              </a:spcBef>
              <a:spcAft>
                <a:spcPts val="0"/>
              </a:spcAft>
              <a:buClr>
                <a:schemeClr val="lt1"/>
              </a:buClr>
              <a:buSzPct val="100000"/>
              <a:buFont typeface="IBM Plex Sans"/>
              <a:buChar char="●"/>
            </a:pPr>
            <a:r>
              <a:rPr lang="en" sz="1700">
                <a:solidFill>
                  <a:schemeClr val="lt1"/>
                </a:solidFill>
                <a:latin typeface="IBM Plex Sans"/>
                <a:ea typeface="IBM Plex Sans"/>
                <a:cs typeface="IBM Plex Sans"/>
                <a:sym typeface="IBM Plex Sans"/>
              </a:rPr>
              <a:t>Peloton is a technology-driven fitness equipment and media company that provides premium at-home fitness experiences, including connected fitness equipment, apparel, and digital classes. </a:t>
            </a:r>
            <a:endParaRPr sz="1700">
              <a:solidFill>
                <a:schemeClr val="lt1"/>
              </a:solidFill>
              <a:latin typeface="IBM Plex Sans"/>
              <a:ea typeface="IBM Plex Sans"/>
              <a:cs typeface="IBM Plex Sans"/>
              <a:sym typeface="IBM Plex Sans"/>
            </a:endParaRPr>
          </a:p>
          <a:p>
            <a:pPr marL="457200" lvl="0" indent="-328453" algn="l" rtl="0">
              <a:spcBef>
                <a:spcPts val="0"/>
              </a:spcBef>
              <a:spcAft>
                <a:spcPts val="0"/>
              </a:spcAft>
              <a:buClr>
                <a:schemeClr val="lt1"/>
              </a:buClr>
              <a:buSzPct val="100000"/>
              <a:buFont typeface="IBM Plex Sans"/>
              <a:buChar char="●"/>
            </a:pPr>
            <a:r>
              <a:rPr lang="en" sz="1700">
                <a:solidFill>
                  <a:schemeClr val="lt1"/>
                </a:solidFill>
                <a:latin typeface="IBM Plex Sans"/>
                <a:ea typeface="IBM Plex Sans"/>
                <a:cs typeface="IBM Plex Sans"/>
                <a:sym typeface="IBM Plex Sans"/>
              </a:rPr>
              <a:t>The company was founded in 2012 and is headquartered in New York City. </a:t>
            </a:r>
            <a:endParaRPr sz="1700">
              <a:solidFill>
                <a:schemeClr val="lt1"/>
              </a:solidFill>
              <a:latin typeface="IBM Plex Sans"/>
              <a:ea typeface="IBM Plex Sans"/>
              <a:cs typeface="IBM Plex Sans"/>
              <a:sym typeface="IBM Plex Sans"/>
            </a:endParaRPr>
          </a:p>
          <a:p>
            <a:pPr marL="457200" lvl="0" indent="-328453" algn="l" rtl="0">
              <a:spcBef>
                <a:spcPts val="0"/>
              </a:spcBef>
              <a:spcAft>
                <a:spcPts val="0"/>
              </a:spcAft>
              <a:buClr>
                <a:schemeClr val="lt1"/>
              </a:buClr>
              <a:buSzPct val="100000"/>
              <a:buFont typeface="IBM Plex Sans"/>
              <a:buChar char="●"/>
            </a:pPr>
            <a:r>
              <a:rPr lang="en" sz="1700">
                <a:solidFill>
                  <a:schemeClr val="lt1"/>
                </a:solidFill>
                <a:latin typeface="IBM Plex Sans"/>
                <a:ea typeface="IBM Plex Sans"/>
                <a:cs typeface="IBM Plex Sans"/>
                <a:sym typeface="IBM Plex Sans"/>
              </a:rPr>
              <a:t>Peloton's defining product is a stationary bike with a large touch screen that streams live and recorded fitness classes to the user's house. </a:t>
            </a:r>
            <a:endParaRPr sz="1700">
              <a:solidFill>
                <a:schemeClr val="lt1"/>
              </a:solidFill>
              <a:latin typeface="IBM Plex Sans"/>
              <a:ea typeface="IBM Plex Sans"/>
              <a:cs typeface="IBM Plex Sans"/>
              <a:sym typeface="IBM Plex Sans"/>
            </a:endParaRPr>
          </a:p>
          <a:p>
            <a:pPr marL="457200" lvl="0" indent="-328453" algn="l" rtl="0">
              <a:spcBef>
                <a:spcPts val="0"/>
              </a:spcBef>
              <a:spcAft>
                <a:spcPts val="0"/>
              </a:spcAft>
              <a:buClr>
                <a:schemeClr val="lt1"/>
              </a:buClr>
              <a:buSzPct val="100000"/>
              <a:buFont typeface="IBM Plex Sans"/>
              <a:buChar char="●"/>
            </a:pPr>
            <a:r>
              <a:rPr lang="en" sz="1700">
                <a:solidFill>
                  <a:schemeClr val="lt1"/>
                </a:solidFill>
                <a:latin typeface="IBM Plex Sans"/>
                <a:ea typeface="IBM Plex Sans"/>
                <a:cs typeface="IBM Plex Sans"/>
                <a:sym typeface="IBM Plex Sans"/>
              </a:rPr>
              <a:t>Peloton offers a digital membership that provides access to its entire library of live and on-demand classes, personalized workout recommendations, and social features. </a:t>
            </a:r>
            <a:endParaRPr sz="1700">
              <a:solidFill>
                <a:schemeClr val="lt1"/>
              </a:solidFill>
              <a:latin typeface="IBM Plex Sans"/>
              <a:ea typeface="IBM Plex Sans"/>
              <a:cs typeface="IBM Plex Sans"/>
              <a:sym typeface="IBM Plex Sans"/>
            </a:endParaRPr>
          </a:p>
          <a:p>
            <a:pPr marL="457200" lvl="0" indent="-328453" algn="l" rtl="0">
              <a:spcBef>
                <a:spcPts val="0"/>
              </a:spcBef>
              <a:spcAft>
                <a:spcPts val="0"/>
              </a:spcAft>
              <a:buClr>
                <a:schemeClr val="lt1"/>
              </a:buClr>
              <a:buSzPct val="100000"/>
              <a:buFont typeface="IBM Plex Sans"/>
              <a:buChar char="●"/>
            </a:pPr>
            <a:r>
              <a:rPr lang="en" sz="1700">
                <a:solidFill>
                  <a:schemeClr val="lt1"/>
                </a:solidFill>
                <a:latin typeface="IBM Plex Sans"/>
                <a:ea typeface="IBM Plex Sans"/>
                <a:cs typeface="IBM Plex Sans"/>
                <a:sym typeface="IBM Plex Sans"/>
              </a:rPr>
              <a:t>Peloton has established itself as a leader in the connected fitness industry and has achieved success in creating a strong brand image through its marketing efforts and collaborations, in addition to its product offerings.</a:t>
            </a:r>
            <a:endParaRPr sz="1700">
              <a:solidFill>
                <a:schemeClr val="lt1"/>
              </a:solidFill>
              <a:latin typeface="IBM Plex Sans"/>
              <a:ea typeface="IBM Plex Sans"/>
              <a:cs typeface="IBM Plex Sans"/>
              <a:sym typeface="IBM Plex Sans"/>
            </a:endParaRPr>
          </a:p>
          <a:p>
            <a:pPr marL="0" lvl="0" indent="0" algn="l" rtl="0">
              <a:spcBef>
                <a:spcPts val="0"/>
              </a:spcBef>
              <a:spcAft>
                <a:spcPts val="0"/>
              </a:spcAft>
              <a:buNone/>
            </a:pPr>
            <a:endParaRPr sz="1300">
              <a:solidFill>
                <a:schemeClr val="lt1"/>
              </a:solidFill>
              <a:latin typeface="IBM Plex Sans"/>
              <a:ea typeface="IBM Plex Sans"/>
              <a:cs typeface="IBM Plex Sans"/>
              <a:sym typeface="IBM Plex Sans"/>
            </a:endParaRPr>
          </a:p>
          <a:p>
            <a:pPr marL="0" lvl="0" indent="0" algn="l" rtl="0">
              <a:lnSpc>
                <a:spcPct val="100000"/>
              </a:lnSpc>
              <a:spcBef>
                <a:spcPts val="0"/>
              </a:spcBef>
              <a:spcAft>
                <a:spcPts val="1200"/>
              </a:spcAft>
              <a:buNone/>
            </a:pPr>
            <a:endParaRPr sz="1200" b="1">
              <a:solidFill>
                <a:schemeClr val="lt1"/>
              </a:solidFill>
              <a:latin typeface="IBM Plex Sans"/>
              <a:ea typeface="IBM Plex Sans"/>
              <a:cs typeface="IBM Plex Sans"/>
              <a:sym typeface="IBM Plex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9"/>
        <p:cNvGrpSpPr/>
        <p:nvPr/>
      </p:nvGrpSpPr>
      <p:grpSpPr>
        <a:xfrm>
          <a:off x="0" y="0"/>
          <a:ext cx="0" cy="0"/>
          <a:chOff x="0" y="0"/>
          <a:chExt cx="0" cy="0"/>
        </a:xfrm>
      </p:grpSpPr>
      <p:sp>
        <p:nvSpPr>
          <p:cNvPr id="70" name="Google Shape;70;p15"/>
          <p:cNvSpPr/>
          <p:nvPr/>
        </p:nvSpPr>
        <p:spPr>
          <a:xfrm>
            <a:off x="456625" y="231050"/>
            <a:ext cx="33456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1" name="Google Shape;71;p15"/>
          <p:cNvPicPr preferRelativeResize="0"/>
          <p:nvPr/>
        </p:nvPicPr>
        <p:blipFill rotWithShape="1">
          <a:blip r:embed="rId3">
            <a:alphaModFix/>
          </a:blip>
          <a:srcRect r="75266" b="15604"/>
          <a:stretch/>
        </p:blipFill>
        <p:spPr>
          <a:xfrm>
            <a:off x="311700" y="389125"/>
            <a:ext cx="3345649" cy="685600"/>
          </a:xfrm>
          <a:prstGeom prst="rect">
            <a:avLst/>
          </a:prstGeom>
          <a:noFill/>
          <a:ln>
            <a:noFill/>
          </a:ln>
        </p:spPr>
      </p:pic>
      <p:sp>
        <p:nvSpPr>
          <p:cNvPr id="72" name="Google Shape;72;p15"/>
          <p:cNvSpPr txBox="1">
            <a:spLocks noGrp="1"/>
          </p:cNvSpPr>
          <p:nvPr>
            <p:ph type="title"/>
          </p:nvPr>
        </p:nvSpPr>
        <p:spPr>
          <a:xfrm>
            <a:off x="515825" y="445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Products / Services</a:t>
            </a:r>
            <a:endParaRPr b="1">
              <a:solidFill>
                <a:schemeClr val="lt1"/>
              </a:solidFill>
              <a:latin typeface="IBM Plex Sans"/>
              <a:ea typeface="IBM Plex Sans"/>
              <a:cs typeface="IBM Plex Sans"/>
              <a:sym typeface="IBM Plex Sans"/>
            </a:endParaRPr>
          </a:p>
        </p:txBody>
      </p:sp>
      <p:sp>
        <p:nvSpPr>
          <p:cNvPr id="73" name="Google Shape;73;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solidFill>
                <a:schemeClr val="lt1"/>
              </a:solidFill>
              <a:latin typeface="IBM Plex Sans"/>
              <a:ea typeface="IBM Plex Sans"/>
              <a:cs typeface="IBM Plex Sans"/>
              <a:sym typeface="IBM Plex Sans"/>
            </a:endParaRPr>
          </a:p>
        </p:txBody>
      </p:sp>
      <p:pic>
        <p:nvPicPr>
          <p:cNvPr id="74" name="Google Shape;74;p1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pic>
        <p:nvPicPr>
          <p:cNvPr id="75" name="Google Shape;75;p1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311700" y="1168213"/>
            <a:ext cx="2610698" cy="1958024"/>
          </a:xfrm>
          <a:prstGeom prst="rect">
            <a:avLst/>
          </a:prstGeom>
          <a:noFill/>
          <a:ln>
            <a:noFill/>
          </a:ln>
        </p:spPr>
      </p:pic>
      <p:pic>
        <p:nvPicPr>
          <p:cNvPr id="76" name="Google Shape;76;p1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2922400" y="1168225"/>
            <a:ext cx="2813824" cy="3446350"/>
          </a:xfrm>
          <a:prstGeom prst="rect">
            <a:avLst/>
          </a:prstGeom>
          <a:noFill/>
          <a:ln>
            <a:noFill/>
          </a:ln>
        </p:spPr>
      </p:pic>
      <p:pic>
        <p:nvPicPr>
          <p:cNvPr id="77" name="Google Shape;77;p15"/>
          <p:cNvPicPr preferRelativeResize="0"/>
          <p:nvPr/>
        </p:nvPicPr>
        <p:blipFill rotWithShape="1">
          <a:blip r:embed="rId7" cstate="email">
            <a:alphaModFix/>
            <a:extLst>
              <a:ext uri="{28A0092B-C50C-407E-A947-70E740481C1C}">
                <a14:useLocalDpi xmlns:a14="http://schemas.microsoft.com/office/drawing/2010/main"/>
              </a:ext>
            </a:extLst>
          </a:blip>
          <a:srcRect t="16365" b="3997"/>
          <a:stretch/>
        </p:blipFill>
        <p:spPr>
          <a:xfrm>
            <a:off x="5736225" y="3126250"/>
            <a:ext cx="1566425" cy="1488325"/>
          </a:xfrm>
          <a:prstGeom prst="rect">
            <a:avLst/>
          </a:prstGeom>
          <a:noFill/>
          <a:ln>
            <a:noFill/>
          </a:ln>
        </p:spPr>
      </p:pic>
      <p:pic>
        <p:nvPicPr>
          <p:cNvPr id="78" name="Google Shape;78;p15"/>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736223" y="1168212"/>
            <a:ext cx="1566425" cy="1958041"/>
          </a:xfrm>
          <a:prstGeom prst="rect">
            <a:avLst/>
          </a:prstGeom>
          <a:noFill/>
          <a:ln>
            <a:noFill/>
          </a:ln>
        </p:spPr>
      </p:pic>
      <p:pic>
        <p:nvPicPr>
          <p:cNvPr id="79" name="Google Shape;79;p15"/>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311700" y="3126250"/>
            <a:ext cx="2610701" cy="1488325"/>
          </a:xfrm>
          <a:prstGeom prst="rect">
            <a:avLst/>
          </a:prstGeom>
          <a:noFill/>
          <a:ln>
            <a:noFill/>
          </a:ln>
        </p:spPr>
      </p:pic>
      <p:pic>
        <p:nvPicPr>
          <p:cNvPr id="80" name="Google Shape;80;p15"/>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7302651" y="1168222"/>
            <a:ext cx="1566425" cy="2180913"/>
          </a:xfrm>
          <a:prstGeom prst="rect">
            <a:avLst/>
          </a:prstGeom>
          <a:noFill/>
          <a:ln>
            <a:noFill/>
          </a:ln>
        </p:spPr>
      </p:pic>
      <p:pic>
        <p:nvPicPr>
          <p:cNvPr id="81" name="Google Shape;81;p15"/>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7302650" y="3349125"/>
            <a:ext cx="1566424" cy="12654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85"/>
        <p:cNvGrpSpPr/>
        <p:nvPr/>
      </p:nvGrpSpPr>
      <p:grpSpPr>
        <a:xfrm>
          <a:off x="0" y="0"/>
          <a:ext cx="0" cy="0"/>
          <a:chOff x="0" y="0"/>
          <a:chExt cx="0" cy="0"/>
        </a:xfrm>
      </p:grpSpPr>
      <p:sp>
        <p:nvSpPr>
          <p:cNvPr id="86" name="Google Shape;86;p16"/>
          <p:cNvSpPr/>
          <p:nvPr/>
        </p:nvSpPr>
        <p:spPr>
          <a:xfrm>
            <a:off x="252500" y="230500"/>
            <a:ext cx="32742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7" name="Google Shape;87;p16"/>
          <p:cNvPicPr preferRelativeResize="0"/>
          <p:nvPr/>
        </p:nvPicPr>
        <p:blipFill rotWithShape="1">
          <a:blip r:embed="rId3">
            <a:alphaModFix/>
          </a:blip>
          <a:srcRect r="75266" b="15604"/>
          <a:stretch/>
        </p:blipFill>
        <p:spPr>
          <a:xfrm>
            <a:off x="107575" y="388575"/>
            <a:ext cx="3274274" cy="685600"/>
          </a:xfrm>
          <a:prstGeom prst="rect">
            <a:avLst/>
          </a:prstGeom>
          <a:noFill/>
          <a:ln>
            <a:noFill/>
          </a:ln>
        </p:spPr>
      </p:pic>
      <p:sp>
        <p:nvSpPr>
          <p:cNvPr id="88" name="Google Shape;88;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latin typeface="IBM Plex Sans"/>
                <a:ea typeface="IBM Plex Sans"/>
                <a:cs typeface="IBM Plex Sans"/>
                <a:sym typeface="IBM Plex Sans"/>
              </a:rPr>
              <a:t>Products / Services</a:t>
            </a:r>
            <a:endParaRPr>
              <a:solidFill>
                <a:schemeClr val="lt1"/>
              </a:solidFill>
              <a:latin typeface="IBM Plex Sans"/>
              <a:ea typeface="IBM Plex Sans"/>
              <a:cs typeface="IBM Plex Sans"/>
              <a:sym typeface="IBM Plex Sans"/>
            </a:endParaRPr>
          </a:p>
        </p:txBody>
      </p:sp>
      <p:pic>
        <p:nvPicPr>
          <p:cNvPr id="89" name="Google Shape;89;p1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0" y="0"/>
            <a:ext cx="4254249" cy="2673749"/>
          </a:xfrm>
          <a:prstGeom prst="rect">
            <a:avLst/>
          </a:prstGeom>
          <a:noFill/>
          <a:ln>
            <a:noFill/>
          </a:ln>
        </p:spPr>
      </p:pic>
      <p:pic>
        <p:nvPicPr>
          <p:cNvPr id="90" name="Google Shape;90;p1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254250" y="40425"/>
            <a:ext cx="4889748" cy="2633326"/>
          </a:xfrm>
          <a:prstGeom prst="rect">
            <a:avLst/>
          </a:prstGeom>
          <a:noFill/>
          <a:ln>
            <a:noFill/>
          </a:ln>
        </p:spPr>
      </p:pic>
      <p:pic>
        <p:nvPicPr>
          <p:cNvPr id="91" name="Google Shape;91;p1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0" y="2673750"/>
            <a:ext cx="4254250" cy="2477801"/>
          </a:xfrm>
          <a:prstGeom prst="rect">
            <a:avLst/>
          </a:prstGeom>
          <a:noFill/>
          <a:ln>
            <a:noFill/>
          </a:ln>
        </p:spPr>
      </p:pic>
      <p:pic>
        <p:nvPicPr>
          <p:cNvPr id="92" name="Google Shape;92;p16"/>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254250" y="2673750"/>
            <a:ext cx="4889750" cy="247779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6"/>
        <p:cNvGrpSpPr/>
        <p:nvPr/>
      </p:nvGrpSpPr>
      <p:grpSpPr>
        <a:xfrm>
          <a:off x="0" y="0"/>
          <a:ext cx="0" cy="0"/>
          <a:chOff x="0" y="0"/>
          <a:chExt cx="0" cy="0"/>
        </a:xfrm>
      </p:grpSpPr>
      <p:sp>
        <p:nvSpPr>
          <p:cNvPr id="97" name="Google Shape;97;p17"/>
          <p:cNvSpPr/>
          <p:nvPr/>
        </p:nvSpPr>
        <p:spPr>
          <a:xfrm>
            <a:off x="515825" y="223075"/>
            <a:ext cx="38859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8" name="Google Shape;98;p17"/>
          <p:cNvPicPr preferRelativeResize="0"/>
          <p:nvPr/>
        </p:nvPicPr>
        <p:blipFill rotWithShape="1">
          <a:blip r:embed="rId3">
            <a:alphaModFix/>
          </a:blip>
          <a:srcRect r="75266" b="15604"/>
          <a:stretch/>
        </p:blipFill>
        <p:spPr>
          <a:xfrm>
            <a:off x="311700" y="389125"/>
            <a:ext cx="3993826" cy="685600"/>
          </a:xfrm>
          <a:prstGeom prst="rect">
            <a:avLst/>
          </a:prstGeom>
          <a:noFill/>
          <a:ln>
            <a:noFill/>
          </a:ln>
        </p:spPr>
      </p:pic>
      <p:sp>
        <p:nvSpPr>
          <p:cNvPr id="99" name="Google Shape;99;p17"/>
          <p:cNvSpPr txBox="1">
            <a:spLocks noGrp="1"/>
          </p:cNvSpPr>
          <p:nvPr>
            <p:ph type="title"/>
          </p:nvPr>
        </p:nvSpPr>
        <p:spPr>
          <a:xfrm>
            <a:off x="515825" y="445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Peloton SWOT Analysis </a:t>
            </a:r>
            <a:endParaRPr b="1">
              <a:solidFill>
                <a:schemeClr val="lt1"/>
              </a:solidFill>
              <a:latin typeface="IBM Plex Sans"/>
              <a:ea typeface="IBM Plex Sans"/>
              <a:cs typeface="IBM Plex Sans"/>
              <a:sym typeface="IBM Plex Sans"/>
            </a:endParaRPr>
          </a:p>
        </p:txBody>
      </p:sp>
      <p:pic>
        <p:nvPicPr>
          <p:cNvPr id="100" name="Google Shape;100;p1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pic>
        <p:nvPicPr>
          <p:cNvPr id="101" name="Google Shape;101;p1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352125" y="1150550"/>
            <a:ext cx="6279249" cy="34960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05"/>
        <p:cNvGrpSpPr/>
        <p:nvPr/>
      </p:nvGrpSpPr>
      <p:grpSpPr>
        <a:xfrm>
          <a:off x="0" y="0"/>
          <a:ext cx="0" cy="0"/>
          <a:chOff x="0" y="0"/>
          <a:chExt cx="0" cy="0"/>
        </a:xfrm>
      </p:grpSpPr>
      <p:sp>
        <p:nvSpPr>
          <p:cNvPr id="106" name="Google Shape;106;p18"/>
          <p:cNvSpPr/>
          <p:nvPr/>
        </p:nvSpPr>
        <p:spPr>
          <a:xfrm>
            <a:off x="456625" y="230500"/>
            <a:ext cx="45360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7" name="Google Shape;107;p18"/>
          <p:cNvPicPr preferRelativeResize="0"/>
          <p:nvPr/>
        </p:nvPicPr>
        <p:blipFill rotWithShape="1">
          <a:blip r:embed="rId3">
            <a:alphaModFix/>
          </a:blip>
          <a:srcRect r="75266" b="15604"/>
          <a:stretch/>
        </p:blipFill>
        <p:spPr>
          <a:xfrm>
            <a:off x="311700" y="388575"/>
            <a:ext cx="4587974" cy="685600"/>
          </a:xfrm>
          <a:prstGeom prst="rect">
            <a:avLst/>
          </a:prstGeom>
          <a:noFill/>
          <a:ln>
            <a:noFill/>
          </a:ln>
        </p:spPr>
      </p:pic>
      <p:sp>
        <p:nvSpPr>
          <p:cNvPr id="108" name="Google Shape;108;p18"/>
          <p:cNvSpPr txBox="1">
            <a:spLocks noGrp="1"/>
          </p:cNvSpPr>
          <p:nvPr>
            <p:ph type="title"/>
          </p:nvPr>
        </p:nvSpPr>
        <p:spPr>
          <a:xfrm>
            <a:off x="515825"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Connected Fitness Industry</a:t>
            </a:r>
            <a:endParaRPr b="1">
              <a:solidFill>
                <a:schemeClr val="lt1"/>
              </a:solidFill>
              <a:latin typeface="IBM Plex Sans"/>
              <a:ea typeface="IBM Plex Sans"/>
              <a:cs typeface="IBM Plex Sans"/>
              <a:sym typeface="IBM Plex Sans"/>
            </a:endParaRPr>
          </a:p>
        </p:txBody>
      </p:sp>
      <p:pic>
        <p:nvPicPr>
          <p:cNvPr id="109" name="Google Shape;109;p1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sp>
        <p:nvSpPr>
          <p:cNvPr id="110" name="Google Shape;110;p18"/>
          <p:cNvSpPr txBox="1">
            <a:spLocks noGrp="1"/>
          </p:cNvSpPr>
          <p:nvPr>
            <p:ph type="body" idx="1"/>
          </p:nvPr>
        </p:nvSpPr>
        <p:spPr>
          <a:xfrm>
            <a:off x="311700" y="1223450"/>
            <a:ext cx="4587900" cy="3834900"/>
          </a:xfrm>
          <a:prstGeom prst="rect">
            <a:avLst/>
          </a:prstGeom>
        </p:spPr>
        <p:txBody>
          <a:bodyPr spcFirstLastPara="1" wrap="square" lIns="91425" tIns="91425" rIns="91425" bIns="91425" anchor="t" anchorCtr="0">
            <a:normAutofit/>
          </a:bodyPr>
          <a:lstStyle/>
          <a:p>
            <a:pPr marL="457200" lvl="0" indent="-323850" algn="l" rtl="0">
              <a:lnSpc>
                <a:spcPct val="100000"/>
              </a:lnSpc>
              <a:spcBef>
                <a:spcPts val="0"/>
              </a:spcBef>
              <a:spcAft>
                <a:spcPts val="0"/>
              </a:spcAft>
              <a:buClr>
                <a:schemeClr val="lt1"/>
              </a:buClr>
              <a:buSzPts val="1500"/>
              <a:buFont typeface="IBM Plex Sans"/>
              <a:buChar char="●"/>
            </a:pPr>
            <a:r>
              <a:rPr lang="en" sz="1500">
                <a:solidFill>
                  <a:schemeClr val="lt1"/>
                </a:solidFill>
                <a:latin typeface="IBM Plex Sans"/>
                <a:ea typeface="IBM Plex Sans"/>
                <a:cs typeface="IBM Plex Sans"/>
                <a:sym typeface="IBM Plex Sans"/>
              </a:rPr>
              <a:t>$15 Billion Market Cap</a:t>
            </a:r>
            <a:endParaRPr sz="1500">
              <a:solidFill>
                <a:schemeClr val="lt1"/>
              </a:solidFill>
              <a:latin typeface="IBM Plex Sans"/>
              <a:ea typeface="IBM Plex Sans"/>
              <a:cs typeface="IBM Plex Sans"/>
              <a:sym typeface="IBM Plex Sans"/>
            </a:endParaRPr>
          </a:p>
          <a:p>
            <a:pPr marL="457200" lvl="0" indent="-323850" algn="l" rtl="0">
              <a:lnSpc>
                <a:spcPct val="100000"/>
              </a:lnSpc>
              <a:spcBef>
                <a:spcPts val="0"/>
              </a:spcBef>
              <a:spcAft>
                <a:spcPts val="0"/>
              </a:spcAft>
              <a:buClr>
                <a:schemeClr val="lt1"/>
              </a:buClr>
              <a:buSzPts val="1500"/>
              <a:buFont typeface="IBM Plex Sans"/>
              <a:buChar char="●"/>
            </a:pPr>
            <a:r>
              <a:rPr lang="en" sz="1500">
                <a:solidFill>
                  <a:schemeClr val="lt1"/>
                </a:solidFill>
                <a:latin typeface="IBM Plex Sans"/>
                <a:ea typeface="IBM Plex Sans"/>
                <a:cs typeface="IBM Plex Sans"/>
                <a:sym typeface="IBM Plex Sans"/>
              </a:rPr>
              <a:t>Highly competitive</a:t>
            </a:r>
            <a:endParaRPr sz="1500">
              <a:solidFill>
                <a:schemeClr val="lt1"/>
              </a:solidFill>
              <a:latin typeface="IBM Plex Sans"/>
              <a:ea typeface="IBM Plex Sans"/>
              <a:cs typeface="IBM Plex Sans"/>
              <a:sym typeface="IBM Plex Sans"/>
            </a:endParaRPr>
          </a:p>
          <a:p>
            <a:pPr marL="457200" lvl="0" indent="-323850" algn="l" rtl="0">
              <a:lnSpc>
                <a:spcPct val="100000"/>
              </a:lnSpc>
              <a:spcBef>
                <a:spcPts val="0"/>
              </a:spcBef>
              <a:spcAft>
                <a:spcPts val="0"/>
              </a:spcAft>
              <a:buClr>
                <a:schemeClr val="lt1"/>
              </a:buClr>
              <a:buSzPts val="1500"/>
              <a:buFont typeface="IBM Plex Sans"/>
              <a:buChar char="●"/>
            </a:pPr>
            <a:r>
              <a:rPr lang="en" sz="1500">
                <a:solidFill>
                  <a:schemeClr val="lt1"/>
                </a:solidFill>
                <a:latin typeface="IBM Plex Sans"/>
                <a:ea typeface="IBM Plex Sans"/>
                <a:cs typeface="IBM Plex Sans"/>
                <a:sym typeface="IBM Plex Sans"/>
              </a:rPr>
              <a:t>Cardio and strength based</a:t>
            </a:r>
            <a:endParaRPr sz="1500">
              <a:solidFill>
                <a:schemeClr val="lt1"/>
              </a:solidFill>
              <a:latin typeface="IBM Plex Sans"/>
              <a:ea typeface="IBM Plex Sans"/>
              <a:cs typeface="IBM Plex Sans"/>
              <a:sym typeface="IBM Plex Sans"/>
            </a:endParaRPr>
          </a:p>
          <a:p>
            <a:pPr marL="457200" lvl="0" indent="-323850" algn="l" rtl="0">
              <a:lnSpc>
                <a:spcPct val="100000"/>
              </a:lnSpc>
              <a:spcBef>
                <a:spcPts val="0"/>
              </a:spcBef>
              <a:spcAft>
                <a:spcPts val="0"/>
              </a:spcAft>
              <a:buClr>
                <a:schemeClr val="lt1"/>
              </a:buClr>
              <a:buSzPts val="1500"/>
              <a:buFont typeface="IBM Plex Sans"/>
              <a:buChar char="●"/>
            </a:pPr>
            <a:r>
              <a:rPr lang="en" sz="1500">
                <a:solidFill>
                  <a:schemeClr val="lt1"/>
                </a:solidFill>
                <a:latin typeface="IBM Plex Sans"/>
                <a:ea typeface="IBM Plex Sans"/>
                <a:cs typeface="IBM Plex Sans"/>
                <a:sym typeface="IBM Plex Sans"/>
              </a:rPr>
              <a:t>Largest Markets</a:t>
            </a:r>
            <a:endParaRPr sz="1500">
              <a:solidFill>
                <a:schemeClr val="lt1"/>
              </a:solidFill>
              <a:latin typeface="IBM Plex Sans"/>
              <a:ea typeface="IBM Plex Sans"/>
              <a:cs typeface="IBM Plex Sans"/>
              <a:sym typeface="IBM Plex Sans"/>
            </a:endParaRPr>
          </a:p>
          <a:p>
            <a:pPr marL="914400" lvl="1" indent="-323850" algn="l" rtl="0">
              <a:lnSpc>
                <a:spcPct val="100000"/>
              </a:lnSpc>
              <a:spcBef>
                <a:spcPts val="0"/>
              </a:spcBef>
              <a:spcAft>
                <a:spcPts val="0"/>
              </a:spcAft>
              <a:buClr>
                <a:schemeClr val="lt1"/>
              </a:buClr>
              <a:buSzPts val="1500"/>
              <a:buFont typeface="IBM Plex Sans"/>
              <a:buChar char="○"/>
            </a:pPr>
            <a:r>
              <a:rPr lang="en" sz="1500">
                <a:solidFill>
                  <a:schemeClr val="lt1"/>
                </a:solidFill>
                <a:latin typeface="IBM Plex Sans"/>
                <a:ea typeface="IBM Plex Sans"/>
                <a:cs typeface="IBM Plex Sans"/>
                <a:sym typeface="IBM Plex Sans"/>
              </a:rPr>
              <a:t>North America (35%)</a:t>
            </a:r>
            <a:endParaRPr sz="1500">
              <a:solidFill>
                <a:schemeClr val="lt1"/>
              </a:solidFill>
              <a:latin typeface="IBM Plex Sans"/>
              <a:ea typeface="IBM Plex Sans"/>
              <a:cs typeface="IBM Plex Sans"/>
              <a:sym typeface="IBM Plex Sans"/>
            </a:endParaRPr>
          </a:p>
          <a:p>
            <a:pPr marL="914400" lvl="1" indent="-323850" algn="l" rtl="0">
              <a:lnSpc>
                <a:spcPct val="100000"/>
              </a:lnSpc>
              <a:spcBef>
                <a:spcPts val="0"/>
              </a:spcBef>
              <a:spcAft>
                <a:spcPts val="0"/>
              </a:spcAft>
              <a:buClr>
                <a:schemeClr val="lt1"/>
              </a:buClr>
              <a:buSzPts val="1500"/>
              <a:buFont typeface="IBM Plex Sans"/>
              <a:buChar char="○"/>
            </a:pPr>
            <a:r>
              <a:rPr lang="en" sz="1500">
                <a:solidFill>
                  <a:schemeClr val="lt1"/>
                </a:solidFill>
                <a:latin typeface="IBM Plex Sans"/>
                <a:ea typeface="IBM Plex Sans"/>
                <a:cs typeface="IBM Plex Sans"/>
                <a:sym typeface="IBM Plex Sans"/>
              </a:rPr>
              <a:t>Japan</a:t>
            </a:r>
            <a:endParaRPr sz="1500">
              <a:solidFill>
                <a:schemeClr val="lt1"/>
              </a:solidFill>
              <a:latin typeface="IBM Plex Sans"/>
              <a:ea typeface="IBM Plex Sans"/>
              <a:cs typeface="IBM Plex Sans"/>
              <a:sym typeface="IBM Plex Sans"/>
            </a:endParaRPr>
          </a:p>
          <a:p>
            <a:pPr marL="914400" lvl="1" indent="-323850" algn="l" rtl="0">
              <a:lnSpc>
                <a:spcPct val="100000"/>
              </a:lnSpc>
              <a:spcBef>
                <a:spcPts val="0"/>
              </a:spcBef>
              <a:spcAft>
                <a:spcPts val="0"/>
              </a:spcAft>
              <a:buClr>
                <a:schemeClr val="lt1"/>
              </a:buClr>
              <a:buSzPts val="1500"/>
              <a:buFont typeface="IBM Plex Sans"/>
              <a:buChar char="○"/>
            </a:pPr>
            <a:r>
              <a:rPr lang="en" sz="1500">
                <a:solidFill>
                  <a:schemeClr val="lt1"/>
                </a:solidFill>
                <a:latin typeface="IBM Plex Sans"/>
                <a:ea typeface="IBM Plex Sans"/>
                <a:cs typeface="IBM Plex Sans"/>
                <a:sym typeface="IBM Plex Sans"/>
              </a:rPr>
              <a:t>China</a:t>
            </a:r>
            <a:endParaRPr sz="1500">
              <a:solidFill>
                <a:schemeClr val="lt1"/>
              </a:solidFill>
              <a:latin typeface="IBM Plex Sans"/>
              <a:ea typeface="IBM Plex Sans"/>
              <a:cs typeface="IBM Plex Sans"/>
              <a:sym typeface="IBM Plex Sans"/>
            </a:endParaRPr>
          </a:p>
          <a:p>
            <a:pPr marL="914400" lvl="1" indent="-323850" algn="l" rtl="0">
              <a:lnSpc>
                <a:spcPct val="100000"/>
              </a:lnSpc>
              <a:spcBef>
                <a:spcPts val="0"/>
              </a:spcBef>
              <a:spcAft>
                <a:spcPts val="0"/>
              </a:spcAft>
              <a:buClr>
                <a:schemeClr val="lt1"/>
              </a:buClr>
              <a:buSzPts val="1500"/>
              <a:buFont typeface="IBM Plex Sans"/>
              <a:buChar char="○"/>
            </a:pPr>
            <a:r>
              <a:rPr lang="en" sz="1500">
                <a:solidFill>
                  <a:schemeClr val="lt1"/>
                </a:solidFill>
                <a:latin typeface="IBM Plex Sans"/>
                <a:ea typeface="IBM Plex Sans"/>
                <a:cs typeface="IBM Plex Sans"/>
                <a:sym typeface="IBM Plex Sans"/>
              </a:rPr>
              <a:t>UK</a:t>
            </a:r>
            <a:endParaRPr sz="1500">
              <a:solidFill>
                <a:schemeClr val="lt1"/>
              </a:solidFill>
              <a:latin typeface="IBM Plex Sans"/>
              <a:ea typeface="IBM Plex Sans"/>
              <a:cs typeface="IBM Plex Sans"/>
              <a:sym typeface="IBM Plex Sans"/>
            </a:endParaRPr>
          </a:p>
          <a:p>
            <a:pPr marL="914400" lvl="1" indent="-323850" algn="l" rtl="0">
              <a:lnSpc>
                <a:spcPct val="100000"/>
              </a:lnSpc>
              <a:spcBef>
                <a:spcPts val="0"/>
              </a:spcBef>
              <a:spcAft>
                <a:spcPts val="0"/>
              </a:spcAft>
              <a:buClr>
                <a:schemeClr val="lt1"/>
              </a:buClr>
              <a:buSzPts val="1500"/>
              <a:buFont typeface="IBM Plex Sans"/>
              <a:buChar char="○"/>
            </a:pPr>
            <a:r>
              <a:rPr lang="en" sz="1500">
                <a:solidFill>
                  <a:schemeClr val="lt1"/>
                </a:solidFill>
                <a:latin typeface="IBM Plex Sans"/>
                <a:ea typeface="IBM Plex Sans"/>
                <a:cs typeface="IBM Plex Sans"/>
                <a:sym typeface="IBM Plex Sans"/>
              </a:rPr>
              <a:t>France</a:t>
            </a:r>
            <a:endParaRPr sz="1500">
              <a:solidFill>
                <a:schemeClr val="lt1"/>
              </a:solidFill>
              <a:latin typeface="IBM Plex Sans"/>
              <a:ea typeface="IBM Plex Sans"/>
              <a:cs typeface="IBM Plex Sans"/>
              <a:sym typeface="IBM Plex Sans"/>
            </a:endParaRPr>
          </a:p>
          <a:p>
            <a:pPr marL="0" lvl="0" indent="0" algn="l" rtl="0">
              <a:lnSpc>
                <a:spcPct val="100000"/>
              </a:lnSpc>
              <a:spcBef>
                <a:spcPts val="1200"/>
              </a:spcBef>
              <a:spcAft>
                <a:spcPts val="0"/>
              </a:spcAft>
              <a:buNone/>
            </a:pPr>
            <a:endParaRPr sz="1500">
              <a:solidFill>
                <a:schemeClr val="lt1"/>
              </a:solidFill>
              <a:latin typeface="IBM Plex Sans"/>
              <a:ea typeface="IBM Plex Sans"/>
              <a:cs typeface="IBM Plex Sans"/>
              <a:sym typeface="IBM Plex Sans"/>
            </a:endParaRPr>
          </a:p>
          <a:p>
            <a:pPr marL="457200" lvl="0" indent="-323850" algn="l" rtl="0">
              <a:lnSpc>
                <a:spcPct val="100000"/>
              </a:lnSpc>
              <a:spcBef>
                <a:spcPts val="1200"/>
              </a:spcBef>
              <a:spcAft>
                <a:spcPts val="0"/>
              </a:spcAft>
              <a:buClr>
                <a:schemeClr val="lt1"/>
              </a:buClr>
              <a:buSzPts val="1500"/>
              <a:buFont typeface="IBM Plex Sans"/>
              <a:buChar char="●"/>
            </a:pPr>
            <a:r>
              <a:rPr lang="en" sz="1500">
                <a:solidFill>
                  <a:schemeClr val="lt1"/>
                </a:solidFill>
                <a:latin typeface="IBM Plex Sans"/>
                <a:ea typeface="IBM Plex Sans"/>
                <a:cs typeface="IBM Plex Sans"/>
                <a:sym typeface="IBM Plex Sans"/>
              </a:rPr>
              <a:t>Key Market Drivers</a:t>
            </a:r>
            <a:endParaRPr sz="1500">
              <a:solidFill>
                <a:schemeClr val="lt1"/>
              </a:solidFill>
              <a:latin typeface="IBM Plex Sans"/>
              <a:ea typeface="IBM Plex Sans"/>
              <a:cs typeface="IBM Plex Sans"/>
              <a:sym typeface="IBM Plex Sans"/>
            </a:endParaRPr>
          </a:p>
          <a:p>
            <a:pPr marL="914400" lvl="1" indent="-323850" algn="l" rtl="0">
              <a:lnSpc>
                <a:spcPct val="100000"/>
              </a:lnSpc>
              <a:spcBef>
                <a:spcPts val="0"/>
              </a:spcBef>
              <a:spcAft>
                <a:spcPts val="0"/>
              </a:spcAft>
              <a:buClr>
                <a:schemeClr val="lt1"/>
              </a:buClr>
              <a:buSzPts val="1500"/>
              <a:buFont typeface="IBM Plex Sans"/>
              <a:buChar char="○"/>
            </a:pPr>
            <a:r>
              <a:rPr lang="en" sz="1500">
                <a:solidFill>
                  <a:schemeClr val="lt1"/>
                </a:solidFill>
                <a:latin typeface="IBM Plex Sans"/>
                <a:ea typeface="IBM Plex Sans"/>
                <a:cs typeface="IBM Plex Sans"/>
                <a:sym typeface="IBM Plex Sans"/>
              </a:rPr>
              <a:t>Rising health concerns</a:t>
            </a:r>
            <a:endParaRPr sz="1500">
              <a:solidFill>
                <a:schemeClr val="lt1"/>
              </a:solidFill>
              <a:latin typeface="IBM Plex Sans"/>
              <a:ea typeface="IBM Plex Sans"/>
              <a:cs typeface="IBM Plex Sans"/>
              <a:sym typeface="IBM Plex Sans"/>
            </a:endParaRPr>
          </a:p>
          <a:p>
            <a:pPr marL="914400" lvl="1" indent="-323850" algn="l" rtl="0">
              <a:lnSpc>
                <a:spcPct val="100000"/>
              </a:lnSpc>
              <a:spcBef>
                <a:spcPts val="0"/>
              </a:spcBef>
              <a:spcAft>
                <a:spcPts val="0"/>
              </a:spcAft>
              <a:buClr>
                <a:schemeClr val="lt1"/>
              </a:buClr>
              <a:buSzPts val="1500"/>
              <a:buFont typeface="IBM Plex Sans"/>
              <a:buChar char="○"/>
            </a:pPr>
            <a:r>
              <a:rPr lang="en" sz="1500">
                <a:solidFill>
                  <a:schemeClr val="lt1"/>
                </a:solidFill>
                <a:latin typeface="IBM Plex Sans"/>
                <a:ea typeface="IBM Plex Sans"/>
                <a:cs typeface="IBM Plex Sans"/>
                <a:sym typeface="IBM Plex Sans"/>
              </a:rPr>
              <a:t>Growing tech advancements</a:t>
            </a:r>
            <a:endParaRPr sz="1500">
              <a:solidFill>
                <a:schemeClr val="lt1"/>
              </a:solidFill>
              <a:latin typeface="IBM Plex Sans"/>
              <a:ea typeface="IBM Plex Sans"/>
              <a:cs typeface="IBM Plex Sans"/>
              <a:sym typeface="IBM Plex Sans"/>
            </a:endParaRPr>
          </a:p>
          <a:p>
            <a:pPr marL="914400" lvl="1" indent="-323850" algn="l" rtl="0">
              <a:lnSpc>
                <a:spcPct val="100000"/>
              </a:lnSpc>
              <a:spcBef>
                <a:spcPts val="0"/>
              </a:spcBef>
              <a:spcAft>
                <a:spcPts val="0"/>
              </a:spcAft>
              <a:buClr>
                <a:schemeClr val="lt1"/>
              </a:buClr>
              <a:buSzPts val="1500"/>
              <a:buFont typeface="IBM Plex Sans"/>
              <a:buChar char="○"/>
            </a:pPr>
            <a:r>
              <a:rPr lang="en" sz="1500">
                <a:solidFill>
                  <a:schemeClr val="lt1"/>
                </a:solidFill>
                <a:latin typeface="IBM Plex Sans"/>
                <a:ea typeface="IBM Plex Sans"/>
                <a:cs typeface="IBM Plex Sans"/>
                <a:sym typeface="IBM Plex Sans"/>
              </a:rPr>
              <a:t>Wearables</a:t>
            </a:r>
            <a:endParaRPr sz="1500">
              <a:solidFill>
                <a:schemeClr val="lt1"/>
              </a:solidFill>
              <a:latin typeface="IBM Plex Sans"/>
              <a:ea typeface="IBM Plex Sans"/>
              <a:cs typeface="IBM Plex Sans"/>
              <a:sym typeface="IBM Plex Sans"/>
            </a:endParaRPr>
          </a:p>
        </p:txBody>
      </p:sp>
      <p:pic>
        <p:nvPicPr>
          <p:cNvPr id="111" name="Google Shape;111;p18"/>
          <p:cNvPicPr preferRelativeResize="0"/>
          <p:nvPr/>
        </p:nvPicPr>
        <p:blipFill rotWithShape="1">
          <a:blip r:embed="rId5" cstate="email">
            <a:alphaModFix/>
            <a:extLst>
              <a:ext uri="{28A0092B-C50C-407E-A947-70E740481C1C}">
                <a14:useLocalDpi xmlns:a14="http://schemas.microsoft.com/office/drawing/2010/main"/>
              </a:ext>
            </a:extLst>
          </a:blip>
          <a:srcRect t="2803" b="10413"/>
          <a:stretch/>
        </p:blipFill>
        <p:spPr>
          <a:xfrm>
            <a:off x="4609425" y="1293862"/>
            <a:ext cx="4096724" cy="316943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15"/>
        <p:cNvGrpSpPr/>
        <p:nvPr/>
      </p:nvGrpSpPr>
      <p:grpSpPr>
        <a:xfrm>
          <a:off x="0" y="0"/>
          <a:ext cx="0" cy="0"/>
          <a:chOff x="0" y="0"/>
          <a:chExt cx="0" cy="0"/>
        </a:xfrm>
      </p:grpSpPr>
      <p:sp>
        <p:nvSpPr>
          <p:cNvPr id="116" name="Google Shape;116;p19"/>
          <p:cNvSpPr/>
          <p:nvPr/>
        </p:nvSpPr>
        <p:spPr>
          <a:xfrm>
            <a:off x="456625" y="230500"/>
            <a:ext cx="31659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7" name="Google Shape;117;p19"/>
          <p:cNvPicPr preferRelativeResize="0"/>
          <p:nvPr/>
        </p:nvPicPr>
        <p:blipFill rotWithShape="1">
          <a:blip r:embed="rId3">
            <a:alphaModFix/>
          </a:blip>
          <a:srcRect r="75266" b="15604"/>
          <a:stretch/>
        </p:blipFill>
        <p:spPr>
          <a:xfrm>
            <a:off x="311700" y="388575"/>
            <a:ext cx="3216625" cy="685600"/>
          </a:xfrm>
          <a:prstGeom prst="rect">
            <a:avLst/>
          </a:prstGeom>
          <a:noFill/>
          <a:ln>
            <a:noFill/>
          </a:ln>
        </p:spPr>
      </p:pic>
      <p:sp>
        <p:nvSpPr>
          <p:cNvPr id="118" name="Google Shape;118;p19"/>
          <p:cNvSpPr txBox="1">
            <a:spLocks noGrp="1"/>
          </p:cNvSpPr>
          <p:nvPr>
            <p:ph type="title"/>
          </p:nvPr>
        </p:nvSpPr>
        <p:spPr>
          <a:xfrm>
            <a:off x="515825"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Competitors</a:t>
            </a:r>
            <a:endParaRPr b="1">
              <a:solidFill>
                <a:schemeClr val="lt1"/>
              </a:solidFill>
              <a:latin typeface="IBM Plex Sans"/>
              <a:ea typeface="IBM Plex Sans"/>
              <a:cs typeface="IBM Plex Sans"/>
              <a:sym typeface="IBM Plex Sans"/>
            </a:endParaRPr>
          </a:p>
        </p:txBody>
      </p:sp>
      <p:sp>
        <p:nvSpPr>
          <p:cNvPr id="119" name="Google Shape;119;p19"/>
          <p:cNvSpPr txBox="1">
            <a:spLocks noGrp="1"/>
          </p:cNvSpPr>
          <p:nvPr>
            <p:ph type="body" idx="1"/>
          </p:nvPr>
        </p:nvSpPr>
        <p:spPr>
          <a:xfrm>
            <a:off x="311700" y="3278050"/>
            <a:ext cx="3604800" cy="15723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endParaRPr sz="1500">
              <a:solidFill>
                <a:schemeClr val="lt1"/>
              </a:solidFill>
              <a:latin typeface="IBM Plex Sans"/>
              <a:ea typeface="IBM Plex Sans"/>
              <a:cs typeface="IBM Plex Sans"/>
              <a:sym typeface="IBM Plex Sans"/>
            </a:endParaRPr>
          </a:p>
          <a:p>
            <a:pPr marL="0" lvl="0" indent="0" algn="l" rtl="0">
              <a:lnSpc>
                <a:spcPct val="100000"/>
              </a:lnSpc>
              <a:spcBef>
                <a:spcPts val="1200"/>
              </a:spcBef>
              <a:spcAft>
                <a:spcPts val="1200"/>
              </a:spcAft>
              <a:buNone/>
            </a:pPr>
            <a:endParaRPr sz="1200" b="1">
              <a:solidFill>
                <a:schemeClr val="lt1"/>
              </a:solidFill>
              <a:latin typeface="IBM Plex Sans"/>
              <a:ea typeface="IBM Plex Sans"/>
              <a:cs typeface="IBM Plex Sans"/>
              <a:sym typeface="IBM Plex Sans"/>
            </a:endParaRPr>
          </a:p>
        </p:txBody>
      </p:sp>
      <p:pic>
        <p:nvPicPr>
          <p:cNvPr id="120" name="Google Shape;120;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sp>
        <p:nvSpPr>
          <p:cNvPr id="121" name="Google Shape;121;p19"/>
          <p:cNvSpPr txBox="1">
            <a:spLocks noGrp="1"/>
          </p:cNvSpPr>
          <p:nvPr>
            <p:ph type="body" idx="1"/>
          </p:nvPr>
        </p:nvSpPr>
        <p:spPr>
          <a:xfrm>
            <a:off x="5220125" y="2135500"/>
            <a:ext cx="3816300" cy="2108100"/>
          </a:xfrm>
          <a:prstGeom prst="rect">
            <a:avLst/>
          </a:prstGeom>
        </p:spPr>
        <p:txBody>
          <a:bodyPr spcFirstLastPara="1" wrap="square" lIns="91425" tIns="91425" rIns="91425" bIns="91425" anchor="t" anchorCtr="0">
            <a:normAutofit/>
          </a:bodyPr>
          <a:lstStyle/>
          <a:p>
            <a:pPr marL="457200" lvl="0" indent="-323850" algn="l" rtl="0">
              <a:lnSpc>
                <a:spcPct val="200000"/>
              </a:lnSpc>
              <a:spcBef>
                <a:spcPts val="0"/>
              </a:spcBef>
              <a:spcAft>
                <a:spcPts val="0"/>
              </a:spcAft>
              <a:buClr>
                <a:schemeClr val="lt1"/>
              </a:buClr>
              <a:buSzPts val="1500"/>
              <a:buFont typeface="IBM Plex Sans"/>
              <a:buChar char="●"/>
            </a:pPr>
            <a:r>
              <a:rPr lang="en" sz="1500" b="1">
                <a:solidFill>
                  <a:schemeClr val="lt1"/>
                </a:solidFill>
                <a:latin typeface="IBM Plex Sans"/>
                <a:ea typeface="IBM Plex Sans"/>
                <a:cs typeface="IBM Plex Sans"/>
                <a:sym typeface="IBM Plex Sans"/>
              </a:rPr>
              <a:t>Saturated Market</a:t>
            </a:r>
            <a:endParaRPr sz="1500" b="1">
              <a:solidFill>
                <a:schemeClr val="lt1"/>
              </a:solidFill>
              <a:latin typeface="IBM Plex Sans"/>
              <a:ea typeface="IBM Plex Sans"/>
              <a:cs typeface="IBM Plex Sans"/>
              <a:sym typeface="IBM Plex Sans"/>
            </a:endParaRPr>
          </a:p>
          <a:p>
            <a:pPr marL="457200" lvl="0" indent="-323850" algn="l" rtl="0">
              <a:lnSpc>
                <a:spcPct val="200000"/>
              </a:lnSpc>
              <a:spcBef>
                <a:spcPts val="0"/>
              </a:spcBef>
              <a:spcAft>
                <a:spcPts val="0"/>
              </a:spcAft>
              <a:buClr>
                <a:schemeClr val="lt1"/>
              </a:buClr>
              <a:buSzPts val="1500"/>
              <a:buFont typeface="IBM Plex Sans"/>
              <a:buChar char="●"/>
            </a:pPr>
            <a:r>
              <a:rPr lang="en" sz="1500" b="1">
                <a:solidFill>
                  <a:schemeClr val="lt1"/>
                </a:solidFill>
                <a:latin typeface="IBM Plex Sans"/>
                <a:ea typeface="IBM Plex Sans"/>
                <a:cs typeface="IBM Plex Sans"/>
                <a:sym typeface="IBM Plex Sans"/>
              </a:rPr>
              <a:t>Identical Products / Offerings</a:t>
            </a:r>
            <a:endParaRPr sz="1500" b="1">
              <a:solidFill>
                <a:schemeClr val="lt1"/>
              </a:solidFill>
              <a:latin typeface="IBM Plex Sans"/>
              <a:ea typeface="IBM Plex Sans"/>
              <a:cs typeface="IBM Plex Sans"/>
              <a:sym typeface="IBM Plex Sans"/>
            </a:endParaRPr>
          </a:p>
          <a:p>
            <a:pPr marL="457200" lvl="0" indent="-323850" algn="l" rtl="0">
              <a:lnSpc>
                <a:spcPct val="200000"/>
              </a:lnSpc>
              <a:spcBef>
                <a:spcPts val="0"/>
              </a:spcBef>
              <a:spcAft>
                <a:spcPts val="0"/>
              </a:spcAft>
              <a:buClr>
                <a:schemeClr val="lt1"/>
              </a:buClr>
              <a:buSzPts val="1500"/>
              <a:buFont typeface="IBM Plex Sans"/>
              <a:buChar char="●"/>
            </a:pPr>
            <a:r>
              <a:rPr lang="en" sz="1500" b="1">
                <a:solidFill>
                  <a:schemeClr val="lt1"/>
                </a:solidFill>
                <a:latin typeface="IBM Plex Sans"/>
                <a:ea typeface="IBM Plex Sans"/>
                <a:cs typeface="IBM Plex Sans"/>
                <a:sym typeface="IBM Plex Sans"/>
              </a:rPr>
              <a:t>Minimal differentiation</a:t>
            </a:r>
            <a:endParaRPr sz="1500" b="1">
              <a:solidFill>
                <a:schemeClr val="lt1"/>
              </a:solidFill>
              <a:latin typeface="IBM Plex Sans"/>
              <a:ea typeface="IBM Plex Sans"/>
              <a:cs typeface="IBM Plex Sans"/>
              <a:sym typeface="IBM Plex Sans"/>
            </a:endParaRPr>
          </a:p>
          <a:p>
            <a:pPr marL="0" lvl="0" indent="0" algn="l" rtl="0">
              <a:lnSpc>
                <a:spcPct val="200000"/>
              </a:lnSpc>
              <a:spcBef>
                <a:spcPts val="0"/>
              </a:spcBef>
              <a:spcAft>
                <a:spcPts val="0"/>
              </a:spcAft>
              <a:buNone/>
            </a:pPr>
            <a:endParaRPr sz="1500">
              <a:solidFill>
                <a:schemeClr val="lt1"/>
              </a:solidFill>
              <a:latin typeface="IBM Plex Sans"/>
              <a:ea typeface="IBM Plex Sans"/>
              <a:cs typeface="IBM Plex Sans"/>
              <a:sym typeface="IBM Plex Sans"/>
            </a:endParaRPr>
          </a:p>
          <a:p>
            <a:pPr marL="0" lvl="0" indent="0" algn="l" rtl="0">
              <a:lnSpc>
                <a:spcPct val="200000"/>
              </a:lnSpc>
              <a:spcBef>
                <a:spcPts val="0"/>
              </a:spcBef>
              <a:spcAft>
                <a:spcPts val="1200"/>
              </a:spcAft>
              <a:buNone/>
            </a:pPr>
            <a:endParaRPr sz="1200" b="1">
              <a:solidFill>
                <a:schemeClr val="lt1"/>
              </a:solidFill>
              <a:latin typeface="IBM Plex Sans"/>
              <a:ea typeface="IBM Plex Sans"/>
              <a:cs typeface="IBM Plex Sans"/>
              <a:sym typeface="IBM Plex Sans"/>
            </a:endParaRPr>
          </a:p>
        </p:txBody>
      </p:sp>
      <p:pic>
        <p:nvPicPr>
          <p:cNvPr id="122" name="Google Shape;122;p1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32402" y="1554900"/>
            <a:ext cx="4385573" cy="2784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26"/>
        <p:cNvGrpSpPr/>
        <p:nvPr/>
      </p:nvGrpSpPr>
      <p:grpSpPr>
        <a:xfrm>
          <a:off x="0" y="0"/>
          <a:ext cx="0" cy="0"/>
          <a:chOff x="0" y="0"/>
          <a:chExt cx="0" cy="0"/>
        </a:xfrm>
      </p:grpSpPr>
      <p:sp>
        <p:nvSpPr>
          <p:cNvPr id="127" name="Google Shape;127;p20"/>
          <p:cNvSpPr/>
          <p:nvPr/>
        </p:nvSpPr>
        <p:spPr>
          <a:xfrm>
            <a:off x="456625" y="231050"/>
            <a:ext cx="69798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8" name="Google Shape;128;p20"/>
          <p:cNvPicPr preferRelativeResize="0"/>
          <p:nvPr/>
        </p:nvPicPr>
        <p:blipFill rotWithShape="1">
          <a:blip r:embed="rId3">
            <a:alphaModFix/>
          </a:blip>
          <a:srcRect r="75266" b="15604"/>
          <a:stretch/>
        </p:blipFill>
        <p:spPr>
          <a:xfrm>
            <a:off x="311700" y="389125"/>
            <a:ext cx="6979776" cy="685600"/>
          </a:xfrm>
          <a:prstGeom prst="rect">
            <a:avLst/>
          </a:prstGeom>
          <a:noFill/>
          <a:ln>
            <a:noFill/>
          </a:ln>
        </p:spPr>
      </p:pic>
      <p:sp>
        <p:nvSpPr>
          <p:cNvPr id="129" name="Google Shape;129;p20"/>
          <p:cNvSpPr txBox="1">
            <a:spLocks noGrp="1"/>
          </p:cNvSpPr>
          <p:nvPr>
            <p:ph type="title"/>
          </p:nvPr>
        </p:nvSpPr>
        <p:spPr>
          <a:xfrm>
            <a:off x="515825" y="445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Post Pandemic Usage Declines</a:t>
            </a:r>
            <a:endParaRPr b="1">
              <a:solidFill>
                <a:schemeClr val="lt1"/>
              </a:solidFill>
              <a:latin typeface="IBM Plex Sans"/>
              <a:ea typeface="IBM Plex Sans"/>
              <a:cs typeface="IBM Plex Sans"/>
              <a:sym typeface="IBM Plex Sans"/>
            </a:endParaRPr>
          </a:p>
        </p:txBody>
      </p:sp>
      <p:sp>
        <p:nvSpPr>
          <p:cNvPr id="130" name="Google Shape;130;p20"/>
          <p:cNvSpPr txBox="1">
            <a:spLocks noGrp="1"/>
          </p:cNvSpPr>
          <p:nvPr>
            <p:ph type="body" idx="1"/>
          </p:nvPr>
        </p:nvSpPr>
        <p:spPr>
          <a:xfrm>
            <a:off x="311700" y="1152475"/>
            <a:ext cx="8520600" cy="3650400"/>
          </a:xfrm>
          <a:prstGeom prst="rect">
            <a:avLst/>
          </a:prstGeom>
        </p:spPr>
        <p:txBody>
          <a:bodyPr spcFirstLastPara="1" wrap="square" lIns="91425" tIns="91425" rIns="91425" bIns="91425" anchor="t" anchorCtr="0">
            <a:noAutofit/>
          </a:bodyPr>
          <a:lstStyle/>
          <a:p>
            <a:pPr marL="457200" lvl="0" indent="-311150" algn="l" rtl="0">
              <a:spcBef>
                <a:spcPts val="1200"/>
              </a:spcBef>
              <a:spcAft>
                <a:spcPts val="0"/>
              </a:spcAft>
              <a:buClr>
                <a:schemeClr val="lt1"/>
              </a:buClr>
              <a:buSzPts val="1300"/>
              <a:buFont typeface="IBM Plex Sans"/>
              <a:buAutoNum type="arabicPeriod"/>
            </a:pPr>
            <a:r>
              <a:rPr lang="en" sz="1300">
                <a:solidFill>
                  <a:schemeClr val="lt1"/>
                </a:solidFill>
                <a:latin typeface="IBM Plex Sans"/>
                <a:ea typeface="IBM Plex Sans"/>
                <a:cs typeface="IBM Plex Sans"/>
                <a:sym typeface="IBM Plex Sans"/>
              </a:rPr>
              <a:t>Peloton experienced a significant increase in revenue during the COVID-19 pandemic due to their first-mover advantage in the Connected Fitness industry, with sales increasing by 172%, monthly workouts doubling, and over a million new users purchasing subscriptions.</a:t>
            </a:r>
            <a:endParaRPr sz="1300">
              <a:solidFill>
                <a:schemeClr val="lt1"/>
              </a:solidFill>
              <a:latin typeface="IBM Plex Sans"/>
              <a:ea typeface="IBM Plex Sans"/>
              <a:cs typeface="IBM Plex Sans"/>
              <a:sym typeface="IBM Plex Sans"/>
            </a:endParaRPr>
          </a:p>
          <a:p>
            <a:pPr marL="457200" lvl="0" indent="-311150" algn="l" rtl="0">
              <a:spcBef>
                <a:spcPts val="0"/>
              </a:spcBef>
              <a:spcAft>
                <a:spcPts val="0"/>
              </a:spcAft>
              <a:buClr>
                <a:schemeClr val="lt1"/>
              </a:buClr>
              <a:buSzPts val="1300"/>
              <a:buFont typeface="IBM Plex Sans"/>
              <a:buAutoNum type="arabicPeriod"/>
            </a:pPr>
            <a:r>
              <a:rPr lang="en" sz="1300">
                <a:solidFill>
                  <a:schemeClr val="lt1"/>
                </a:solidFill>
                <a:latin typeface="IBM Plex Sans"/>
                <a:ea typeface="IBM Plex Sans"/>
                <a:cs typeface="IBM Plex Sans"/>
                <a:sym typeface="IBM Plex Sans"/>
              </a:rPr>
              <a:t>Despite its initial success, Peloton's stock value plummeted to $12.75 in February 2023, a 56.03% decrease from its IPO of $29 in 2019, due to supply chain hiccups, excessive inventory, dropping demand, error in planning while assuming market trends would last long after the pandemic, competition, expensive recalls, and negative press.</a:t>
            </a:r>
            <a:endParaRPr sz="1300">
              <a:solidFill>
                <a:schemeClr val="lt1"/>
              </a:solidFill>
              <a:latin typeface="IBM Plex Sans"/>
              <a:ea typeface="IBM Plex Sans"/>
              <a:cs typeface="IBM Plex Sans"/>
              <a:sym typeface="IBM Plex Sans"/>
            </a:endParaRPr>
          </a:p>
          <a:p>
            <a:pPr marL="457200" lvl="0" indent="-311150" algn="l" rtl="0">
              <a:spcBef>
                <a:spcPts val="0"/>
              </a:spcBef>
              <a:spcAft>
                <a:spcPts val="0"/>
              </a:spcAft>
              <a:buClr>
                <a:schemeClr val="lt1"/>
              </a:buClr>
              <a:buSzPts val="1300"/>
              <a:buFont typeface="IBM Plex Sans"/>
              <a:buAutoNum type="arabicPeriod"/>
            </a:pPr>
            <a:r>
              <a:rPr lang="en" sz="1300">
                <a:solidFill>
                  <a:schemeClr val="lt1"/>
                </a:solidFill>
                <a:latin typeface="IBM Plex Sans"/>
                <a:ea typeface="IBM Plex Sans"/>
                <a:cs typeface="IBM Plex Sans"/>
                <a:sym typeface="IBM Plex Sans"/>
              </a:rPr>
              <a:t>Peloton invested $400 million in a factory to cut costs and bring manufacturing in-house, but with the lifting of COVID-19 restrictions, revenues dramatically dropped due to an increase in outdoor activities and customer attrition.</a:t>
            </a:r>
            <a:endParaRPr sz="1300">
              <a:solidFill>
                <a:schemeClr val="lt1"/>
              </a:solidFill>
              <a:latin typeface="IBM Plex Sans"/>
              <a:ea typeface="IBM Plex Sans"/>
              <a:cs typeface="IBM Plex Sans"/>
              <a:sym typeface="IBM Plex Sans"/>
            </a:endParaRPr>
          </a:p>
          <a:p>
            <a:pPr marL="457200" lvl="0" indent="-311150" algn="l" rtl="0">
              <a:spcBef>
                <a:spcPts val="0"/>
              </a:spcBef>
              <a:spcAft>
                <a:spcPts val="0"/>
              </a:spcAft>
              <a:buClr>
                <a:schemeClr val="lt1"/>
              </a:buClr>
              <a:buSzPts val="1300"/>
              <a:buFont typeface="IBM Plex Sans"/>
              <a:buAutoNum type="arabicPeriod"/>
            </a:pPr>
            <a:r>
              <a:rPr lang="en" sz="1300">
                <a:solidFill>
                  <a:schemeClr val="lt1"/>
                </a:solidFill>
                <a:latin typeface="IBM Plex Sans"/>
                <a:ea typeface="IBM Plex Sans"/>
                <a:cs typeface="IBM Plex Sans"/>
                <a:sym typeface="IBM Plex Sans"/>
              </a:rPr>
              <a:t>To cut costs and revive Peloton from its drowning debt, the company underwent managerial restructuring with a new focus on software offerings that brought in profits, leading to more profitability from their subscription sales compared to physical product sales.</a:t>
            </a:r>
            <a:endParaRPr sz="1300">
              <a:solidFill>
                <a:schemeClr val="lt1"/>
              </a:solidFill>
              <a:latin typeface="IBM Plex Sans"/>
              <a:ea typeface="IBM Plex Sans"/>
              <a:cs typeface="IBM Plex Sans"/>
              <a:sym typeface="IBM Plex Sans"/>
            </a:endParaRPr>
          </a:p>
          <a:p>
            <a:pPr marL="457200" lvl="0" indent="-311150" algn="l" rtl="0">
              <a:spcBef>
                <a:spcPts val="0"/>
              </a:spcBef>
              <a:spcAft>
                <a:spcPts val="0"/>
              </a:spcAft>
              <a:buClr>
                <a:schemeClr val="lt1"/>
              </a:buClr>
              <a:buSzPts val="1300"/>
              <a:buFont typeface="IBM Plex Sans"/>
              <a:buAutoNum type="arabicPeriod"/>
            </a:pPr>
            <a:r>
              <a:rPr lang="en" sz="1300">
                <a:solidFill>
                  <a:schemeClr val="lt1"/>
                </a:solidFill>
                <a:latin typeface="IBM Plex Sans"/>
                <a:ea typeface="IBM Plex Sans"/>
                <a:cs typeface="IBM Plex Sans"/>
                <a:sym typeface="IBM Plex Sans"/>
              </a:rPr>
              <a:t>The challenge now for Peloton is how to restore, maintain, and grow peak pandemic demand amongst their users, and address its challenge of buyer resistance and financial fragility.</a:t>
            </a:r>
            <a:endParaRPr sz="1300">
              <a:solidFill>
                <a:schemeClr val="lt1"/>
              </a:solidFill>
              <a:latin typeface="IBM Plex Sans"/>
              <a:ea typeface="IBM Plex Sans"/>
              <a:cs typeface="IBM Plex Sans"/>
              <a:sym typeface="IBM Plex Sans"/>
            </a:endParaRPr>
          </a:p>
          <a:p>
            <a:pPr marL="0" lvl="0" indent="0" algn="l" rtl="0">
              <a:spcBef>
                <a:spcPts val="1200"/>
              </a:spcBef>
              <a:spcAft>
                <a:spcPts val="1200"/>
              </a:spcAft>
              <a:buNone/>
            </a:pPr>
            <a:endParaRPr sz="1900">
              <a:solidFill>
                <a:schemeClr val="lt1"/>
              </a:solidFill>
              <a:latin typeface="IBM Plex Sans"/>
              <a:ea typeface="IBM Plex Sans"/>
              <a:cs typeface="IBM Plex Sans"/>
              <a:sym typeface="IBM Plex Sans"/>
            </a:endParaRPr>
          </a:p>
        </p:txBody>
      </p:sp>
      <p:pic>
        <p:nvPicPr>
          <p:cNvPr id="131" name="Google Shape;131;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35"/>
        <p:cNvGrpSpPr/>
        <p:nvPr/>
      </p:nvGrpSpPr>
      <p:grpSpPr>
        <a:xfrm>
          <a:off x="0" y="0"/>
          <a:ext cx="0" cy="0"/>
          <a:chOff x="0" y="0"/>
          <a:chExt cx="0" cy="0"/>
        </a:xfrm>
      </p:grpSpPr>
      <p:sp>
        <p:nvSpPr>
          <p:cNvPr id="136" name="Google Shape;136;p21"/>
          <p:cNvSpPr/>
          <p:nvPr/>
        </p:nvSpPr>
        <p:spPr>
          <a:xfrm>
            <a:off x="456625" y="231050"/>
            <a:ext cx="69798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7" name="Google Shape;137;p21"/>
          <p:cNvPicPr preferRelativeResize="0"/>
          <p:nvPr/>
        </p:nvPicPr>
        <p:blipFill rotWithShape="1">
          <a:blip r:embed="rId3">
            <a:alphaModFix/>
          </a:blip>
          <a:srcRect r="75266" b="15604"/>
          <a:stretch/>
        </p:blipFill>
        <p:spPr>
          <a:xfrm>
            <a:off x="311700" y="389125"/>
            <a:ext cx="6979776" cy="685600"/>
          </a:xfrm>
          <a:prstGeom prst="rect">
            <a:avLst/>
          </a:prstGeom>
          <a:noFill/>
          <a:ln>
            <a:noFill/>
          </a:ln>
        </p:spPr>
      </p:pic>
      <p:sp>
        <p:nvSpPr>
          <p:cNvPr id="138" name="Google Shape;138;p21"/>
          <p:cNvSpPr txBox="1">
            <a:spLocks noGrp="1"/>
          </p:cNvSpPr>
          <p:nvPr>
            <p:ph type="title"/>
          </p:nvPr>
        </p:nvSpPr>
        <p:spPr>
          <a:xfrm>
            <a:off x="515825" y="445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 Reasons for Attrition </a:t>
            </a:r>
            <a:endParaRPr b="1">
              <a:solidFill>
                <a:schemeClr val="lt1"/>
              </a:solidFill>
              <a:latin typeface="IBM Plex Sans"/>
              <a:ea typeface="IBM Plex Sans"/>
              <a:cs typeface="IBM Plex Sans"/>
              <a:sym typeface="IBM Plex Sans"/>
            </a:endParaRPr>
          </a:p>
        </p:txBody>
      </p:sp>
      <p:sp>
        <p:nvSpPr>
          <p:cNvPr id="139" name="Google Shape;139;p21"/>
          <p:cNvSpPr txBox="1">
            <a:spLocks noGrp="1"/>
          </p:cNvSpPr>
          <p:nvPr>
            <p:ph type="body" idx="1"/>
          </p:nvPr>
        </p:nvSpPr>
        <p:spPr>
          <a:xfrm>
            <a:off x="311700" y="1279150"/>
            <a:ext cx="8520600" cy="3650400"/>
          </a:xfrm>
          <a:prstGeom prst="rect">
            <a:avLst/>
          </a:prstGeom>
        </p:spPr>
        <p:txBody>
          <a:bodyPr spcFirstLastPara="1" wrap="square" lIns="91425" tIns="91425" rIns="91425" bIns="91425" anchor="t" anchorCtr="0">
            <a:noAutofit/>
          </a:bodyPr>
          <a:lstStyle/>
          <a:p>
            <a:pPr marL="457200" lvl="0" indent="-317500" algn="l" rtl="0">
              <a:lnSpc>
                <a:spcPct val="100000"/>
              </a:lnSpc>
              <a:spcBef>
                <a:spcPts val="1200"/>
              </a:spcBef>
              <a:spcAft>
                <a:spcPts val="0"/>
              </a:spcAft>
              <a:buClr>
                <a:schemeClr val="lt1"/>
              </a:buClr>
              <a:buSzPts val="1400"/>
              <a:buFont typeface="IBM Plex Sans"/>
              <a:buAutoNum type="arabicPeriod"/>
            </a:pPr>
            <a:r>
              <a:rPr lang="en" sz="1400">
                <a:solidFill>
                  <a:schemeClr val="lt1"/>
                </a:solidFill>
                <a:latin typeface="IBM Plex Sans"/>
                <a:ea typeface="IBM Plex Sans"/>
                <a:cs typeface="IBM Plex Sans"/>
                <a:sym typeface="IBM Plex Sans"/>
              </a:rPr>
              <a:t>Peloton's cult-like following during the pandemic resulted in many users becoming obsessed with Peloton's spin classes. However, many of these users soon got burnt out from the same workout routine, and as a result, Peloton adopters have begun to pursue other physical activities like yoga, meditation, strength training, etc.</a:t>
            </a:r>
            <a:endParaRPr sz="1400">
              <a:solidFill>
                <a:schemeClr val="lt1"/>
              </a:solidFill>
              <a:latin typeface="IBM Plex Sans"/>
              <a:ea typeface="IBM Plex Sans"/>
              <a:cs typeface="IBM Plex Sans"/>
              <a:sym typeface="IBM Plex Sans"/>
            </a:endParaRPr>
          </a:p>
          <a:p>
            <a:pPr marL="457200" lvl="0" indent="0" algn="l" rtl="0">
              <a:lnSpc>
                <a:spcPct val="100000"/>
              </a:lnSpc>
              <a:spcBef>
                <a:spcPts val="1200"/>
              </a:spcBef>
              <a:spcAft>
                <a:spcPts val="0"/>
              </a:spcAft>
              <a:buNone/>
            </a:pPr>
            <a:endParaRPr sz="1400">
              <a:solidFill>
                <a:schemeClr val="lt1"/>
              </a:solidFill>
              <a:latin typeface="IBM Plex Sans"/>
              <a:ea typeface="IBM Plex Sans"/>
              <a:cs typeface="IBM Plex Sans"/>
              <a:sym typeface="IBM Plex Sans"/>
            </a:endParaRPr>
          </a:p>
          <a:p>
            <a:pPr marL="457200" lvl="0" indent="-317500" algn="l" rtl="0">
              <a:lnSpc>
                <a:spcPct val="100000"/>
              </a:lnSpc>
              <a:spcBef>
                <a:spcPts val="1200"/>
              </a:spcBef>
              <a:spcAft>
                <a:spcPts val="0"/>
              </a:spcAft>
              <a:buClr>
                <a:schemeClr val="lt1"/>
              </a:buClr>
              <a:buSzPts val="1400"/>
              <a:buFont typeface="IBM Plex Sans"/>
              <a:buAutoNum type="arabicPeriod"/>
            </a:pPr>
            <a:r>
              <a:rPr lang="en" sz="1400">
                <a:solidFill>
                  <a:schemeClr val="lt1"/>
                </a:solidFill>
                <a:latin typeface="IBM Plex Sans"/>
                <a:ea typeface="IBM Plex Sans"/>
                <a:cs typeface="IBM Plex Sans"/>
                <a:sym typeface="IBM Plex Sans"/>
              </a:rPr>
              <a:t>As gyms reopen, there has been a waning interest in at-home fitness equipment, with reduced demand attributed to an increase in the need for class variety, being around other people and socializing, separation of work and play, and feeling the need to catch up for social events missed during the pandemic.</a:t>
            </a:r>
            <a:endParaRPr sz="1400">
              <a:solidFill>
                <a:schemeClr val="lt1"/>
              </a:solidFill>
              <a:latin typeface="IBM Plex Sans"/>
              <a:ea typeface="IBM Plex Sans"/>
              <a:cs typeface="IBM Plex Sans"/>
              <a:sym typeface="IBM Plex Sans"/>
            </a:endParaRPr>
          </a:p>
          <a:p>
            <a:pPr marL="457200" lvl="0" indent="0" algn="l" rtl="0">
              <a:lnSpc>
                <a:spcPct val="100000"/>
              </a:lnSpc>
              <a:spcBef>
                <a:spcPts val="1200"/>
              </a:spcBef>
              <a:spcAft>
                <a:spcPts val="0"/>
              </a:spcAft>
              <a:buNone/>
            </a:pPr>
            <a:endParaRPr sz="1400">
              <a:solidFill>
                <a:schemeClr val="lt1"/>
              </a:solidFill>
              <a:latin typeface="IBM Plex Sans"/>
              <a:ea typeface="IBM Plex Sans"/>
              <a:cs typeface="IBM Plex Sans"/>
              <a:sym typeface="IBM Plex Sans"/>
            </a:endParaRPr>
          </a:p>
          <a:p>
            <a:pPr marL="457200" lvl="0" indent="-317500" algn="l" rtl="0">
              <a:lnSpc>
                <a:spcPct val="100000"/>
              </a:lnSpc>
              <a:spcBef>
                <a:spcPts val="1200"/>
              </a:spcBef>
              <a:spcAft>
                <a:spcPts val="0"/>
              </a:spcAft>
              <a:buClr>
                <a:schemeClr val="lt1"/>
              </a:buClr>
              <a:buSzPts val="1400"/>
              <a:buFont typeface="IBM Plex Sans"/>
              <a:buAutoNum type="arabicPeriod"/>
            </a:pPr>
            <a:r>
              <a:rPr lang="en" sz="1400">
                <a:solidFill>
                  <a:schemeClr val="lt1"/>
                </a:solidFill>
                <a:latin typeface="IBM Plex Sans"/>
                <a:ea typeface="IBM Plex Sans"/>
                <a:cs typeface="IBM Plex Sans"/>
                <a:sym typeface="IBM Plex Sans"/>
              </a:rPr>
              <a:t>Peloton users miss the physical presence of others and are looking for a safe space to exercise, free of distractions, amongst a community of people that hold them accountable.</a:t>
            </a:r>
            <a:endParaRPr sz="1400">
              <a:solidFill>
                <a:schemeClr val="lt1"/>
              </a:solidFill>
              <a:latin typeface="IBM Plex Sans"/>
              <a:ea typeface="IBM Plex Sans"/>
              <a:cs typeface="IBM Plex Sans"/>
              <a:sym typeface="IBM Plex Sans"/>
            </a:endParaRPr>
          </a:p>
          <a:p>
            <a:pPr marL="0" lvl="0" indent="0" algn="l" rtl="0">
              <a:spcBef>
                <a:spcPts val="1200"/>
              </a:spcBef>
              <a:spcAft>
                <a:spcPts val="1200"/>
              </a:spcAft>
              <a:buNone/>
            </a:pPr>
            <a:endParaRPr sz="1700">
              <a:solidFill>
                <a:schemeClr val="lt1"/>
              </a:solidFill>
              <a:latin typeface="IBM Plex Sans"/>
              <a:ea typeface="IBM Plex Sans"/>
              <a:cs typeface="IBM Plex Sans"/>
              <a:sym typeface="IBM Plex Sans"/>
            </a:endParaRPr>
          </a:p>
        </p:txBody>
      </p:sp>
      <p:pic>
        <p:nvPicPr>
          <p:cNvPr id="140" name="Google Shape;140;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44"/>
        <p:cNvGrpSpPr/>
        <p:nvPr/>
      </p:nvGrpSpPr>
      <p:grpSpPr>
        <a:xfrm>
          <a:off x="0" y="0"/>
          <a:ext cx="0" cy="0"/>
          <a:chOff x="0" y="0"/>
          <a:chExt cx="0" cy="0"/>
        </a:xfrm>
      </p:grpSpPr>
      <p:sp>
        <p:nvSpPr>
          <p:cNvPr id="145" name="Google Shape;145;p22"/>
          <p:cNvSpPr/>
          <p:nvPr/>
        </p:nvSpPr>
        <p:spPr>
          <a:xfrm>
            <a:off x="456625" y="231050"/>
            <a:ext cx="43800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6" name="Google Shape;146;p22"/>
          <p:cNvPicPr preferRelativeResize="0"/>
          <p:nvPr/>
        </p:nvPicPr>
        <p:blipFill rotWithShape="1">
          <a:blip r:embed="rId3">
            <a:alphaModFix/>
          </a:blip>
          <a:srcRect r="75266" b="15604"/>
          <a:stretch/>
        </p:blipFill>
        <p:spPr>
          <a:xfrm>
            <a:off x="311700" y="389125"/>
            <a:ext cx="4379876" cy="685600"/>
          </a:xfrm>
          <a:prstGeom prst="rect">
            <a:avLst/>
          </a:prstGeom>
          <a:noFill/>
          <a:ln>
            <a:noFill/>
          </a:ln>
        </p:spPr>
      </p:pic>
      <p:sp>
        <p:nvSpPr>
          <p:cNvPr id="147" name="Google Shape;147;p22"/>
          <p:cNvSpPr txBox="1">
            <a:spLocks noGrp="1"/>
          </p:cNvSpPr>
          <p:nvPr>
            <p:ph type="title"/>
          </p:nvPr>
        </p:nvSpPr>
        <p:spPr>
          <a:xfrm>
            <a:off x="515825" y="445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Recent Rebranding Efforts</a:t>
            </a:r>
            <a:endParaRPr b="1">
              <a:solidFill>
                <a:schemeClr val="lt1"/>
              </a:solidFill>
              <a:latin typeface="IBM Plex Sans"/>
              <a:ea typeface="IBM Plex Sans"/>
              <a:cs typeface="IBM Plex Sans"/>
              <a:sym typeface="IBM Plex Sans"/>
            </a:endParaRPr>
          </a:p>
        </p:txBody>
      </p:sp>
      <p:pic>
        <p:nvPicPr>
          <p:cNvPr id="148" name="Google Shape;148;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pic>
        <p:nvPicPr>
          <p:cNvPr id="149" name="Google Shape;149;p2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311700" y="1219600"/>
            <a:ext cx="6608076" cy="3524299"/>
          </a:xfrm>
          <a:prstGeom prst="rect">
            <a:avLst/>
          </a:prstGeom>
          <a:noFill/>
          <a:ln>
            <a:noFill/>
          </a:ln>
        </p:spPr>
      </p:pic>
      <p:pic>
        <p:nvPicPr>
          <p:cNvPr id="150" name="Google Shape;150;p22"/>
          <p:cNvPicPr preferRelativeResize="0"/>
          <p:nvPr/>
        </p:nvPicPr>
        <p:blipFill rotWithShape="1">
          <a:blip r:embed="rId6" cstate="email">
            <a:alphaModFix/>
            <a:extLst>
              <a:ext uri="{28A0092B-C50C-407E-A947-70E740481C1C}">
                <a14:useLocalDpi xmlns:a14="http://schemas.microsoft.com/office/drawing/2010/main"/>
              </a:ext>
            </a:extLst>
          </a:blip>
          <a:srcRect t="20254" b="14932"/>
          <a:stretch/>
        </p:blipFill>
        <p:spPr>
          <a:xfrm>
            <a:off x="4895750" y="713925"/>
            <a:ext cx="3936548" cy="996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54"/>
        <p:cNvGrpSpPr/>
        <p:nvPr/>
      </p:nvGrpSpPr>
      <p:grpSpPr>
        <a:xfrm>
          <a:off x="0" y="0"/>
          <a:ext cx="0" cy="0"/>
          <a:chOff x="0" y="0"/>
          <a:chExt cx="0" cy="0"/>
        </a:xfrm>
      </p:grpSpPr>
      <p:sp>
        <p:nvSpPr>
          <p:cNvPr id="155" name="Google Shape;155;p23"/>
          <p:cNvSpPr/>
          <p:nvPr/>
        </p:nvSpPr>
        <p:spPr>
          <a:xfrm>
            <a:off x="456625" y="231050"/>
            <a:ext cx="37002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6" name="Google Shape;156;p23"/>
          <p:cNvPicPr preferRelativeResize="0"/>
          <p:nvPr/>
        </p:nvPicPr>
        <p:blipFill rotWithShape="1">
          <a:blip r:embed="rId3">
            <a:alphaModFix/>
          </a:blip>
          <a:srcRect r="75266" b="15604"/>
          <a:stretch/>
        </p:blipFill>
        <p:spPr>
          <a:xfrm>
            <a:off x="311700" y="389125"/>
            <a:ext cx="3700226" cy="685600"/>
          </a:xfrm>
          <a:prstGeom prst="rect">
            <a:avLst/>
          </a:prstGeom>
          <a:noFill/>
          <a:ln>
            <a:noFill/>
          </a:ln>
        </p:spPr>
      </p:pic>
      <p:sp>
        <p:nvSpPr>
          <p:cNvPr id="157" name="Google Shape;157;p23"/>
          <p:cNvSpPr txBox="1">
            <a:spLocks noGrp="1"/>
          </p:cNvSpPr>
          <p:nvPr>
            <p:ph type="title"/>
          </p:nvPr>
        </p:nvSpPr>
        <p:spPr>
          <a:xfrm>
            <a:off x="515825" y="445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Proposed Rebranding</a:t>
            </a:r>
            <a:endParaRPr b="1">
              <a:solidFill>
                <a:schemeClr val="lt1"/>
              </a:solidFill>
              <a:latin typeface="IBM Plex Sans"/>
              <a:ea typeface="IBM Plex Sans"/>
              <a:cs typeface="IBM Plex Sans"/>
              <a:sym typeface="IBM Plex Sans"/>
            </a:endParaRPr>
          </a:p>
        </p:txBody>
      </p:sp>
      <p:sp>
        <p:nvSpPr>
          <p:cNvPr id="158" name="Google Shape;158;p23"/>
          <p:cNvSpPr txBox="1">
            <a:spLocks noGrp="1"/>
          </p:cNvSpPr>
          <p:nvPr>
            <p:ph type="body" idx="1"/>
          </p:nvPr>
        </p:nvSpPr>
        <p:spPr>
          <a:xfrm>
            <a:off x="311700" y="1152475"/>
            <a:ext cx="40653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sz="1900" b="1">
              <a:solidFill>
                <a:schemeClr val="lt1"/>
              </a:solidFill>
              <a:latin typeface="IBM Plex Sans"/>
              <a:ea typeface="IBM Plex Sans"/>
              <a:cs typeface="IBM Plex Sans"/>
              <a:sym typeface="IBM Plex Sans"/>
            </a:endParaRPr>
          </a:p>
          <a:p>
            <a:pPr marL="0" lvl="0" indent="0" algn="l" rtl="0">
              <a:spcBef>
                <a:spcPts val="0"/>
              </a:spcBef>
              <a:spcAft>
                <a:spcPts val="0"/>
              </a:spcAft>
              <a:buNone/>
            </a:pPr>
            <a:r>
              <a:rPr lang="en" sz="1900" b="1">
                <a:solidFill>
                  <a:schemeClr val="lt1"/>
                </a:solidFill>
                <a:latin typeface="IBM Plex Sans"/>
                <a:ea typeface="IBM Plex Sans"/>
                <a:cs typeface="IBM Plex Sans"/>
                <a:sym typeface="IBM Plex Sans"/>
              </a:rPr>
              <a:t>Specific positioning</a:t>
            </a:r>
            <a:endParaRPr sz="1900" b="1">
              <a:solidFill>
                <a:schemeClr val="lt1"/>
              </a:solidFill>
              <a:latin typeface="IBM Plex Sans"/>
              <a:ea typeface="IBM Plex Sans"/>
              <a:cs typeface="IBM Plex Sans"/>
              <a:sym typeface="IBM Plex Sans"/>
            </a:endParaRPr>
          </a:p>
          <a:p>
            <a:pPr marL="0" lvl="0" indent="0" algn="l" rtl="0">
              <a:spcBef>
                <a:spcPts val="0"/>
              </a:spcBef>
              <a:spcAft>
                <a:spcPts val="0"/>
              </a:spcAft>
              <a:buNone/>
            </a:pPr>
            <a:r>
              <a:rPr lang="en" sz="1900">
                <a:solidFill>
                  <a:schemeClr val="lt1"/>
                </a:solidFill>
                <a:latin typeface="IBM Plex Sans"/>
                <a:ea typeface="IBM Plex Sans"/>
                <a:cs typeface="IBM Plex Sans"/>
                <a:sym typeface="IBM Plex Sans"/>
              </a:rPr>
              <a:t>Connected fitness community that motivates you to be your best self.</a:t>
            </a:r>
            <a:endParaRPr sz="1900">
              <a:solidFill>
                <a:schemeClr val="lt1"/>
              </a:solidFill>
              <a:latin typeface="IBM Plex Sans"/>
              <a:ea typeface="IBM Plex Sans"/>
              <a:cs typeface="IBM Plex Sans"/>
              <a:sym typeface="IBM Plex Sans"/>
            </a:endParaRPr>
          </a:p>
          <a:p>
            <a:pPr marL="457200" lvl="0" indent="0" algn="l" rtl="0">
              <a:spcBef>
                <a:spcPts val="0"/>
              </a:spcBef>
              <a:spcAft>
                <a:spcPts val="0"/>
              </a:spcAft>
              <a:buNone/>
            </a:pPr>
            <a:endParaRPr sz="1900">
              <a:solidFill>
                <a:schemeClr val="lt1"/>
              </a:solidFill>
              <a:latin typeface="IBM Plex Sans"/>
              <a:ea typeface="IBM Plex Sans"/>
              <a:cs typeface="IBM Plex Sans"/>
              <a:sym typeface="IBM Plex Sans"/>
            </a:endParaRPr>
          </a:p>
          <a:p>
            <a:pPr marL="0" lvl="0" indent="0" algn="l" rtl="0">
              <a:spcBef>
                <a:spcPts val="0"/>
              </a:spcBef>
              <a:spcAft>
                <a:spcPts val="0"/>
              </a:spcAft>
              <a:buNone/>
            </a:pPr>
            <a:r>
              <a:rPr lang="en" sz="1900" b="1">
                <a:solidFill>
                  <a:schemeClr val="lt1"/>
                </a:solidFill>
                <a:latin typeface="IBM Plex Sans"/>
                <a:ea typeface="IBM Plex Sans"/>
                <a:cs typeface="IBM Plex Sans"/>
                <a:sym typeface="IBM Plex Sans"/>
              </a:rPr>
              <a:t>Type of position</a:t>
            </a:r>
            <a:endParaRPr sz="1900" b="1">
              <a:solidFill>
                <a:schemeClr val="lt1"/>
              </a:solidFill>
              <a:latin typeface="IBM Plex Sans"/>
              <a:ea typeface="IBM Plex Sans"/>
              <a:cs typeface="IBM Plex Sans"/>
              <a:sym typeface="IBM Plex Sans"/>
            </a:endParaRPr>
          </a:p>
          <a:p>
            <a:pPr marL="0" lvl="0" indent="0" algn="l" rtl="0">
              <a:spcBef>
                <a:spcPts val="0"/>
              </a:spcBef>
              <a:spcAft>
                <a:spcPts val="0"/>
              </a:spcAft>
              <a:buNone/>
            </a:pPr>
            <a:r>
              <a:rPr lang="en" sz="1900">
                <a:solidFill>
                  <a:schemeClr val="lt1"/>
                </a:solidFill>
                <a:latin typeface="IBM Plex Sans"/>
                <a:ea typeface="IBM Plex Sans"/>
                <a:cs typeface="IBM Plex Sans"/>
                <a:sym typeface="IBM Plex Sans"/>
              </a:rPr>
              <a:t>Niche, and Horizontal</a:t>
            </a:r>
            <a:endParaRPr sz="1900">
              <a:solidFill>
                <a:schemeClr val="lt1"/>
              </a:solidFill>
              <a:latin typeface="IBM Plex Sans"/>
              <a:ea typeface="IBM Plex Sans"/>
              <a:cs typeface="IBM Plex Sans"/>
              <a:sym typeface="IBM Plex Sans"/>
            </a:endParaRPr>
          </a:p>
        </p:txBody>
      </p:sp>
      <p:pic>
        <p:nvPicPr>
          <p:cNvPr id="159" name="Google Shape;159;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pic>
        <p:nvPicPr>
          <p:cNvPr id="160" name="Google Shape;160;p23"/>
          <p:cNvPicPr preferRelativeResize="0"/>
          <p:nvPr/>
        </p:nvPicPr>
        <p:blipFill rotWithShape="1">
          <a:blip r:embed="rId5" cstate="email">
            <a:alphaModFix/>
            <a:extLst>
              <a:ext uri="{28A0092B-C50C-407E-A947-70E740481C1C}">
                <a14:useLocalDpi xmlns:a14="http://schemas.microsoft.com/office/drawing/2010/main"/>
              </a:ext>
            </a:extLst>
          </a:blip>
          <a:srcRect l="1019" b="1700"/>
          <a:stretch/>
        </p:blipFill>
        <p:spPr>
          <a:xfrm>
            <a:off x="4377025" y="77750"/>
            <a:ext cx="4766974" cy="449112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64"/>
        <p:cNvGrpSpPr/>
        <p:nvPr/>
      </p:nvGrpSpPr>
      <p:grpSpPr>
        <a:xfrm>
          <a:off x="0" y="0"/>
          <a:ext cx="0" cy="0"/>
          <a:chOff x="0" y="0"/>
          <a:chExt cx="0" cy="0"/>
        </a:xfrm>
      </p:grpSpPr>
      <p:sp>
        <p:nvSpPr>
          <p:cNvPr id="165" name="Google Shape;165;p24"/>
          <p:cNvSpPr/>
          <p:nvPr/>
        </p:nvSpPr>
        <p:spPr>
          <a:xfrm>
            <a:off x="6310750" y="1887100"/>
            <a:ext cx="1922400" cy="19224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4"/>
          <p:cNvSpPr/>
          <p:nvPr/>
        </p:nvSpPr>
        <p:spPr>
          <a:xfrm>
            <a:off x="3397688" y="1887100"/>
            <a:ext cx="1922400" cy="19224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4"/>
          <p:cNvSpPr/>
          <p:nvPr/>
        </p:nvSpPr>
        <p:spPr>
          <a:xfrm>
            <a:off x="484625" y="1887100"/>
            <a:ext cx="1922400" cy="19224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4"/>
          <p:cNvSpPr/>
          <p:nvPr/>
        </p:nvSpPr>
        <p:spPr>
          <a:xfrm>
            <a:off x="609450" y="198300"/>
            <a:ext cx="27987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9" name="Google Shape;169;p24"/>
          <p:cNvPicPr preferRelativeResize="0"/>
          <p:nvPr/>
        </p:nvPicPr>
        <p:blipFill rotWithShape="1">
          <a:blip r:embed="rId3">
            <a:alphaModFix/>
          </a:blip>
          <a:srcRect r="75266" b="15604"/>
          <a:stretch/>
        </p:blipFill>
        <p:spPr>
          <a:xfrm>
            <a:off x="419275" y="364375"/>
            <a:ext cx="2798574" cy="685600"/>
          </a:xfrm>
          <a:prstGeom prst="rect">
            <a:avLst/>
          </a:prstGeom>
          <a:noFill/>
          <a:ln>
            <a:noFill/>
          </a:ln>
        </p:spPr>
      </p:pic>
      <p:pic>
        <p:nvPicPr>
          <p:cNvPr id="170" name="Google Shape;170;p24"/>
          <p:cNvPicPr preferRelativeResize="0"/>
          <p:nvPr/>
        </p:nvPicPr>
        <p:blipFill rotWithShape="1">
          <a:blip r:embed="rId4" cstate="email">
            <a:alphaModFix/>
            <a:extLst>
              <a:ext uri="{28A0092B-C50C-407E-A947-70E740481C1C}">
                <a14:useLocalDpi xmlns:a14="http://schemas.microsoft.com/office/drawing/2010/main"/>
              </a:ext>
            </a:extLst>
          </a:blip>
          <a:srcRect r="75266" b="15604"/>
          <a:stretch/>
        </p:blipFill>
        <p:spPr>
          <a:xfrm>
            <a:off x="3979213" y="1434063"/>
            <a:ext cx="1922400" cy="1922475"/>
          </a:xfrm>
          <a:prstGeom prst="rect">
            <a:avLst/>
          </a:prstGeom>
          <a:noFill/>
          <a:ln>
            <a:noFill/>
          </a:ln>
        </p:spPr>
      </p:pic>
      <p:pic>
        <p:nvPicPr>
          <p:cNvPr id="171" name="Google Shape;171;p24"/>
          <p:cNvPicPr preferRelativeResize="0"/>
          <p:nvPr/>
        </p:nvPicPr>
        <p:blipFill rotWithShape="1">
          <a:blip r:embed="rId4" cstate="email">
            <a:alphaModFix/>
            <a:extLst>
              <a:ext uri="{28A0092B-C50C-407E-A947-70E740481C1C}">
                <a14:useLocalDpi xmlns:a14="http://schemas.microsoft.com/office/drawing/2010/main"/>
              </a:ext>
            </a:extLst>
          </a:blip>
          <a:srcRect r="75266" b="15604"/>
          <a:stretch/>
        </p:blipFill>
        <p:spPr>
          <a:xfrm>
            <a:off x="1096888" y="1434063"/>
            <a:ext cx="1922400" cy="1922475"/>
          </a:xfrm>
          <a:prstGeom prst="rect">
            <a:avLst/>
          </a:prstGeom>
          <a:noFill/>
          <a:ln>
            <a:noFill/>
          </a:ln>
        </p:spPr>
      </p:pic>
      <p:pic>
        <p:nvPicPr>
          <p:cNvPr id="172" name="Google Shape;172;p24"/>
          <p:cNvPicPr preferRelativeResize="0"/>
          <p:nvPr/>
        </p:nvPicPr>
        <p:blipFill rotWithShape="1">
          <a:blip r:embed="rId4" cstate="email">
            <a:alphaModFix/>
            <a:extLst>
              <a:ext uri="{28A0092B-C50C-407E-A947-70E740481C1C}">
                <a14:useLocalDpi xmlns:a14="http://schemas.microsoft.com/office/drawing/2010/main"/>
              </a:ext>
            </a:extLst>
          </a:blip>
          <a:srcRect r="75266" b="15604"/>
          <a:stretch/>
        </p:blipFill>
        <p:spPr>
          <a:xfrm>
            <a:off x="6861550" y="1434063"/>
            <a:ext cx="1922400" cy="1922475"/>
          </a:xfrm>
          <a:prstGeom prst="rect">
            <a:avLst/>
          </a:prstGeom>
          <a:noFill/>
          <a:ln>
            <a:noFill/>
          </a:ln>
        </p:spPr>
      </p:pic>
      <p:sp>
        <p:nvSpPr>
          <p:cNvPr id="173" name="Google Shape;173;p24"/>
          <p:cNvSpPr txBox="1">
            <a:spLocks noGrp="1"/>
          </p:cNvSpPr>
          <p:nvPr>
            <p:ph type="title"/>
          </p:nvPr>
        </p:nvSpPr>
        <p:spPr>
          <a:xfrm>
            <a:off x="623400" y="4208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Differentiators</a:t>
            </a:r>
            <a:endParaRPr b="1">
              <a:solidFill>
                <a:schemeClr val="lt1"/>
              </a:solidFill>
              <a:latin typeface="IBM Plex Sans"/>
              <a:ea typeface="IBM Plex Sans"/>
              <a:cs typeface="IBM Plex Sans"/>
              <a:sym typeface="IBM Plex Sans"/>
            </a:endParaRPr>
          </a:p>
        </p:txBody>
      </p:sp>
      <p:sp>
        <p:nvSpPr>
          <p:cNvPr id="174" name="Google Shape;174;p24"/>
          <p:cNvSpPr txBox="1">
            <a:spLocks noGrp="1"/>
          </p:cNvSpPr>
          <p:nvPr>
            <p:ph type="body" idx="1"/>
          </p:nvPr>
        </p:nvSpPr>
        <p:spPr>
          <a:xfrm>
            <a:off x="484625" y="3965200"/>
            <a:ext cx="2534700" cy="5727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1200"/>
              </a:spcAft>
              <a:buNone/>
            </a:pPr>
            <a:r>
              <a:rPr lang="en" b="1">
                <a:solidFill>
                  <a:schemeClr val="lt1"/>
                </a:solidFill>
                <a:latin typeface="IBM Plex Sans"/>
                <a:ea typeface="IBM Plex Sans"/>
                <a:cs typeface="IBM Plex Sans"/>
                <a:sym typeface="IBM Plex Sans"/>
              </a:rPr>
              <a:t>Luxury / Exclusivity</a:t>
            </a:r>
            <a:endParaRPr b="1">
              <a:solidFill>
                <a:schemeClr val="lt1"/>
              </a:solidFill>
              <a:latin typeface="IBM Plex Sans"/>
              <a:ea typeface="IBM Plex Sans"/>
              <a:cs typeface="IBM Plex Sans"/>
              <a:sym typeface="IBM Plex Sans"/>
            </a:endParaRPr>
          </a:p>
        </p:txBody>
      </p:sp>
      <p:pic>
        <p:nvPicPr>
          <p:cNvPr id="175" name="Google Shape;175;p2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pic>
        <p:nvPicPr>
          <p:cNvPr id="176" name="Google Shape;176;p2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797363" y="1610501"/>
            <a:ext cx="1922475" cy="1922475"/>
          </a:xfrm>
          <a:prstGeom prst="rect">
            <a:avLst/>
          </a:prstGeom>
          <a:noFill/>
          <a:ln>
            <a:noFill/>
          </a:ln>
        </p:spPr>
      </p:pic>
      <p:sp>
        <p:nvSpPr>
          <p:cNvPr id="177" name="Google Shape;177;p24"/>
          <p:cNvSpPr txBox="1">
            <a:spLocks noGrp="1"/>
          </p:cNvSpPr>
          <p:nvPr>
            <p:ph type="body" idx="1"/>
          </p:nvPr>
        </p:nvSpPr>
        <p:spPr>
          <a:xfrm>
            <a:off x="3397700" y="3797075"/>
            <a:ext cx="2503800" cy="13647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 b="1">
                <a:solidFill>
                  <a:schemeClr val="lt1"/>
                </a:solidFill>
                <a:latin typeface="IBM Plex Sans"/>
                <a:ea typeface="IBM Plex Sans"/>
                <a:cs typeface="IBM Plex Sans"/>
                <a:sym typeface="IBM Plex Sans"/>
              </a:rPr>
              <a:t>Gamification + New Experiences</a:t>
            </a:r>
            <a:endParaRPr b="1">
              <a:solidFill>
                <a:schemeClr val="lt1"/>
              </a:solidFill>
              <a:latin typeface="IBM Plex Sans"/>
              <a:ea typeface="IBM Plex Sans"/>
              <a:cs typeface="IBM Plex Sans"/>
              <a:sym typeface="IBM Plex Sans"/>
            </a:endParaRPr>
          </a:p>
        </p:txBody>
      </p:sp>
      <p:sp>
        <p:nvSpPr>
          <p:cNvPr id="178" name="Google Shape;178;p24"/>
          <p:cNvSpPr txBox="1">
            <a:spLocks noGrp="1"/>
          </p:cNvSpPr>
          <p:nvPr>
            <p:ph type="body" idx="1"/>
          </p:nvPr>
        </p:nvSpPr>
        <p:spPr>
          <a:xfrm>
            <a:off x="6310750" y="3843100"/>
            <a:ext cx="2473200" cy="11205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 b="1">
                <a:solidFill>
                  <a:schemeClr val="lt1"/>
                </a:solidFill>
                <a:latin typeface="IBM Plex Sans"/>
                <a:ea typeface="IBM Plex Sans"/>
                <a:cs typeface="IBM Plex Sans"/>
                <a:sym typeface="IBM Plex Sans"/>
              </a:rPr>
              <a:t>Community + In Person Experiences</a:t>
            </a:r>
            <a:endParaRPr b="1">
              <a:solidFill>
                <a:schemeClr val="lt1"/>
              </a:solidFill>
              <a:latin typeface="IBM Plex Sans"/>
              <a:ea typeface="IBM Plex Sans"/>
              <a:cs typeface="IBM Plex Sans"/>
              <a:sym typeface="IBM Plex Sans"/>
            </a:endParaRPr>
          </a:p>
        </p:txBody>
      </p:sp>
      <p:pic>
        <p:nvPicPr>
          <p:cNvPr id="179" name="Google Shape;179;p24"/>
          <p:cNvPicPr preferRelativeResize="0"/>
          <p:nvPr/>
        </p:nvPicPr>
        <p:blipFill rotWithShape="1">
          <a:blip r:embed="rId7" cstate="email">
            <a:alphaModFix/>
            <a:extLst>
              <a:ext uri="{28A0092B-C50C-407E-A947-70E740481C1C}">
                <a14:useLocalDpi xmlns:a14="http://schemas.microsoft.com/office/drawing/2010/main"/>
              </a:ext>
            </a:extLst>
          </a:blip>
          <a:srcRect l="16803" r="39104"/>
          <a:stretch/>
        </p:blipFill>
        <p:spPr>
          <a:xfrm>
            <a:off x="6562075" y="1670830"/>
            <a:ext cx="1922401" cy="1911770"/>
          </a:xfrm>
          <a:prstGeom prst="rect">
            <a:avLst/>
          </a:prstGeom>
          <a:noFill/>
          <a:ln>
            <a:noFill/>
          </a:ln>
        </p:spPr>
      </p:pic>
      <p:pic>
        <p:nvPicPr>
          <p:cNvPr id="180" name="Google Shape;180;p24"/>
          <p:cNvPicPr preferRelativeResize="0"/>
          <p:nvPr/>
        </p:nvPicPr>
        <p:blipFill rotWithShape="1">
          <a:blip r:embed="rId8" cstate="email">
            <a:alphaModFix/>
            <a:extLst>
              <a:ext uri="{28A0092B-C50C-407E-A947-70E740481C1C}">
                <a14:useLocalDpi xmlns:a14="http://schemas.microsoft.com/office/drawing/2010/main"/>
              </a:ext>
            </a:extLst>
          </a:blip>
          <a:srcRect l="30190" t="14364" r="29286" b="13594"/>
          <a:stretch/>
        </p:blipFill>
        <p:spPr>
          <a:xfrm>
            <a:off x="3703813" y="1610525"/>
            <a:ext cx="1922401" cy="1922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84"/>
        <p:cNvGrpSpPr/>
        <p:nvPr/>
      </p:nvGrpSpPr>
      <p:grpSpPr>
        <a:xfrm>
          <a:off x="0" y="0"/>
          <a:ext cx="0" cy="0"/>
          <a:chOff x="0" y="0"/>
          <a:chExt cx="0" cy="0"/>
        </a:xfrm>
      </p:grpSpPr>
      <p:sp>
        <p:nvSpPr>
          <p:cNvPr id="185" name="Google Shape;185;p25"/>
          <p:cNvSpPr/>
          <p:nvPr/>
        </p:nvSpPr>
        <p:spPr>
          <a:xfrm>
            <a:off x="515825" y="222525"/>
            <a:ext cx="34368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6" name="Google Shape;186;p25"/>
          <p:cNvPicPr preferRelativeResize="0"/>
          <p:nvPr/>
        </p:nvPicPr>
        <p:blipFill rotWithShape="1">
          <a:blip r:embed="rId3">
            <a:alphaModFix/>
          </a:blip>
          <a:srcRect r="75266" b="15604"/>
          <a:stretch/>
        </p:blipFill>
        <p:spPr>
          <a:xfrm>
            <a:off x="311700" y="388575"/>
            <a:ext cx="3436726" cy="685600"/>
          </a:xfrm>
          <a:prstGeom prst="rect">
            <a:avLst/>
          </a:prstGeom>
          <a:noFill/>
          <a:ln>
            <a:noFill/>
          </a:ln>
        </p:spPr>
      </p:pic>
      <p:sp>
        <p:nvSpPr>
          <p:cNvPr id="187" name="Google Shape;187;p25"/>
          <p:cNvSpPr txBox="1">
            <a:spLocks noGrp="1"/>
          </p:cNvSpPr>
          <p:nvPr>
            <p:ph type="title"/>
          </p:nvPr>
        </p:nvSpPr>
        <p:spPr>
          <a:xfrm>
            <a:off x="515825"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solidFill>
                  <a:schemeClr val="lt1"/>
                </a:solidFill>
                <a:latin typeface="IBM Plex Sans"/>
                <a:ea typeface="IBM Plex Sans"/>
                <a:cs typeface="IBM Plex Sans"/>
                <a:sym typeface="IBM Plex Sans"/>
              </a:rPr>
              <a:t>Luxury Fitness Club</a:t>
            </a:r>
            <a:endParaRPr b="1" dirty="0">
              <a:solidFill>
                <a:schemeClr val="lt1"/>
              </a:solidFill>
              <a:latin typeface="IBM Plex Sans"/>
              <a:ea typeface="IBM Plex Sans"/>
              <a:cs typeface="IBM Plex Sans"/>
              <a:sym typeface="IBM Plex Sans"/>
            </a:endParaRPr>
          </a:p>
        </p:txBody>
      </p:sp>
      <p:sp>
        <p:nvSpPr>
          <p:cNvPr id="188" name="Google Shape;188;p25"/>
          <p:cNvSpPr txBox="1">
            <a:spLocks noGrp="1"/>
          </p:cNvSpPr>
          <p:nvPr>
            <p:ph type="body" idx="1"/>
          </p:nvPr>
        </p:nvSpPr>
        <p:spPr>
          <a:xfrm>
            <a:off x="311700" y="1152475"/>
            <a:ext cx="42603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Temple of well-being</a:t>
            </a:r>
            <a:endParaRPr>
              <a:solidFill>
                <a:schemeClr val="lt1"/>
              </a:solidFill>
              <a:latin typeface="IBM Plex Sans"/>
              <a:ea typeface="IBM Plex Sans"/>
              <a:cs typeface="IBM Plex Sans"/>
              <a:sym typeface="IBM Plex Sans"/>
            </a:endParaRPr>
          </a:p>
          <a:p>
            <a:pPr marL="457200" lvl="0" indent="-342900" algn="l" rtl="0">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State of the art Peloton studios (member only access by retinol scan)</a:t>
            </a:r>
            <a:endParaRPr>
              <a:solidFill>
                <a:schemeClr val="lt1"/>
              </a:solidFill>
              <a:latin typeface="IBM Plex Sans"/>
              <a:ea typeface="IBM Plex Sans"/>
              <a:cs typeface="IBM Plex Sans"/>
              <a:sym typeface="IBM Plex Sans"/>
            </a:endParaRPr>
          </a:p>
          <a:p>
            <a:pPr marL="457200" lvl="0" indent="-342900" algn="l" rtl="0">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World Class Trainers</a:t>
            </a:r>
            <a:endParaRPr>
              <a:solidFill>
                <a:schemeClr val="lt1"/>
              </a:solidFill>
              <a:latin typeface="IBM Plex Sans"/>
              <a:ea typeface="IBM Plex Sans"/>
              <a:cs typeface="IBM Plex Sans"/>
              <a:sym typeface="IBM Plex Sans"/>
            </a:endParaRPr>
          </a:p>
          <a:p>
            <a:pPr marL="457200" lvl="0" indent="-342900" algn="l" rtl="0">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Exclusive Partnerships </a:t>
            </a:r>
            <a:endParaRPr>
              <a:solidFill>
                <a:schemeClr val="lt1"/>
              </a:solidFill>
              <a:latin typeface="IBM Plex Sans"/>
              <a:ea typeface="IBM Plex Sans"/>
              <a:cs typeface="IBM Plex Sans"/>
              <a:sym typeface="IBM Plex Sans"/>
            </a:endParaRPr>
          </a:p>
          <a:p>
            <a:pPr marL="457200" lvl="0" indent="-342900" algn="l" rtl="0">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Exposure to unreleased products</a:t>
            </a:r>
            <a:endParaRPr>
              <a:solidFill>
                <a:schemeClr val="lt1"/>
              </a:solidFill>
              <a:latin typeface="IBM Plex Sans"/>
              <a:ea typeface="IBM Plex Sans"/>
              <a:cs typeface="IBM Plex Sans"/>
              <a:sym typeface="IBM Plex Sans"/>
            </a:endParaRPr>
          </a:p>
          <a:p>
            <a:pPr marL="457200" lvl="0" indent="-342900" algn="l" rtl="0">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Networking, conferences, education, and other studio events</a:t>
            </a:r>
            <a:endParaRPr>
              <a:solidFill>
                <a:schemeClr val="lt1"/>
              </a:solidFill>
              <a:latin typeface="IBM Plex Sans"/>
              <a:ea typeface="IBM Plex Sans"/>
              <a:cs typeface="IBM Plex Sans"/>
              <a:sym typeface="IBM Plex Sans"/>
            </a:endParaRPr>
          </a:p>
        </p:txBody>
      </p:sp>
      <p:pic>
        <p:nvPicPr>
          <p:cNvPr id="189" name="Google Shape;189;p2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sp>
        <p:nvSpPr>
          <p:cNvPr id="4" name="Google Shape;185;p25">
            <a:extLst>
              <a:ext uri="{FF2B5EF4-FFF2-40B4-BE49-F238E27FC236}">
                <a16:creationId xmlns:a16="http://schemas.microsoft.com/office/drawing/2014/main" id="{B49ACA4C-8C5E-DCB3-BB26-AA1152C172B2}"/>
              </a:ext>
            </a:extLst>
          </p:cNvPr>
          <p:cNvSpPr/>
          <p:nvPr/>
        </p:nvSpPr>
        <p:spPr>
          <a:xfrm>
            <a:off x="5191375" y="222525"/>
            <a:ext cx="34368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Google Shape;186;p25">
            <a:extLst>
              <a:ext uri="{FF2B5EF4-FFF2-40B4-BE49-F238E27FC236}">
                <a16:creationId xmlns:a16="http://schemas.microsoft.com/office/drawing/2014/main" id="{3B2D51F1-9A70-86F0-8849-43E0FBFA4B3D}"/>
              </a:ext>
            </a:extLst>
          </p:cNvPr>
          <p:cNvPicPr preferRelativeResize="0"/>
          <p:nvPr/>
        </p:nvPicPr>
        <p:blipFill rotWithShape="1">
          <a:blip r:embed="rId3">
            <a:alphaModFix/>
          </a:blip>
          <a:srcRect r="75266" b="15604"/>
          <a:stretch/>
        </p:blipFill>
        <p:spPr>
          <a:xfrm>
            <a:off x="4987176" y="389223"/>
            <a:ext cx="3436726" cy="685600"/>
          </a:xfrm>
          <a:prstGeom prst="rect">
            <a:avLst/>
          </a:prstGeom>
          <a:noFill/>
          <a:ln>
            <a:noFill/>
          </a:ln>
        </p:spPr>
      </p:pic>
      <p:sp>
        <p:nvSpPr>
          <p:cNvPr id="7" name="TextBox 6">
            <a:extLst>
              <a:ext uri="{FF2B5EF4-FFF2-40B4-BE49-F238E27FC236}">
                <a16:creationId xmlns:a16="http://schemas.microsoft.com/office/drawing/2014/main" id="{1A0B89B8-0C60-6021-CE11-CC9A3686F6B9}"/>
              </a:ext>
            </a:extLst>
          </p:cNvPr>
          <p:cNvSpPr txBox="1"/>
          <p:nvPr/>
        </p:nvSpPr>
        <p:spPr>
          <a:xfrm>
            <a:off x="4987176" y="454789"/>
            <a:ext cx="4572000" cy="477054"/>
          </a:xfrm>
          <a:prstGeom prst="rect">
            <a:avLst/>
          </a:prstGeom>
          <a:noFill/>
        </p:spPr>
        <p:txBody>
          <a:bodyPr wrap="square">
            <a:spAutoFit/>
          </a:bodyPr>
          <a:lstStyle/>
          <a:p>
            <a:r>
              <a:rPr lang="en" sz="2500" b="1" dirty="0">
                <a:solidFill>
                  <a:schemeClr val="lt1"/>
                </a:solidFill>
                <a:latin typeface="IBM Plex Sans"/>
                <a:ea typeface="IBM Plex Sans"/>
                <a:cs typeface="IBM Plex Sans"/>
                <a:sym typeface="IBM Plex Sans"/>
              </a:rPr>
              <a:t>Customer Segment</a:t>
            </a:r>
            <a:endParaRPr lang="en-US" sz="2500" dirty="0"/>
          </a:p>
        </p:txBody>
      </p:sp>
      <p:sp>
        <p:nvSpPr>
          <p:cNvPr id="8" name="Google Shape;220;p28">
            <a:extLst>
              <a:ext uri="{FF2B5EF4-FFF2-40B4-BE49-F238E27FC236}">
                <a16:creationId xmlns:a16="http://schemas.microsoft.com/office/drawing/2014/main" id="{CDE5231A-2512-6CAB-4BCA-9B08617F1B3E}"/>
              </a:ext>
            </a:extLst>
          </p:cNvPr>
          <p:cNvSpPr txBox="1">
            <a:spLocks/>
          </p:cNvSpPr>
          <p:nvPr/>
        </p:nvSpPr>
        <p:spPr>
          <a:xfrm>
            <a:off x="4776124" y="1111112"/>
            <a:ext cx="4260301" cy="3399541"/>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buFont typeface="Arial"/>
              <a:buNone/>
            </a:pPr>
            <a:r>
              <a:rPr lang="en-US" b="1">
                <a:solidFill>
                  <a:schemeClr val="lt1"/>
                </a:solidFill>
                <a:latin typeface="IBM Plex Sans"/>
                <a:ea typeface="IBM Plex Sans"/>
                <a:cs typeface="IBM Plex Sans"/>
                <a:sym typeface="IBM Plex Sans"/>
              </a:rPr>
              <a:t>Demographic</a:t>
            </a:r>
            <a:r>
              <a:rPr lang="en-US">
                <a:solidFill>
                  <a:schemeClr val="lt1"/>
                </a:solidFill>
                <a:latin typeface="IBM Plex Sans"/>
                <a:ea typeface="IBM Plex Sans"/>
                <a:cs typeface="IBM Plex Sans"/>
                <a:sym typeface="IBM Plex Sans"/>
              </a:rPr>
              <a:t> - Trainer, parents, professional athlete.</a:t>
            </a:r>
          </a:p>
          <a:p>
            <a:pPr marL="0" indent="0">
              <a:spcBef>
                <a:spcPts val="1200"/>
              </a:spcBef>
              <a:buFont typeface="Arial"/>
              <a:buNone/>
            </a:pPr>
            <a:r>
              <a:rPr lang="en-US" b="1">
                <a:solidFill>
                  <a:schemeClr val="lt1"/>
                </a:solidFill>
                <a:latin typeface="IBM Plex Sans"/>
                <a:ea typeface="IBM Plex Sans"/>
                <a:cs typeface="IBM Plex Sans"/>
                <a:sym typeface="IBM Plex Sans"/>
              </a:rPr>
              <a:t>Geographic</a:t>
            </a:r>
            <a:r>
              <a:rPr lang="en-US">
                <a:solidFill>
                  <a:schemeClr val="lt1"/>
                </a:solidFill>
                <a:latin typeface="IBM Plex Sans"/>
                <a:ea typeface="IBM Plex Sans"/>
                <a:cs typeface="IBM Plex Sans"/>
                <a:sym typeface="IBM Plex Sans"/>
              </a:rPr>
              <a:t> - Urban population.</a:t>
            </a:r>
          </a:p>
          <a:p>
            <a:pPr marL="0" indent="0">
              <a:spcBef>
                <a:spcPts val="1200"/>
              </a:spcBef>
              <a:buFont typeface="Arial"/>
              <a:buNone/>
            </a:pPr>
            <a:r>
              <a:rPr lang="en-US" b="1">
                <a:solidFill>
                  <a:schemeClr val="lt1"/>
                </a:solidFill>
                <a:latin typeface="IBM Plex Sans"/>
                <a:ea typeface="IBM Plex Sans"/>
                <a:cs typeface="IBM Plex Sans"/>
                <a:sym typeface="IBM Plex Sans"/>
              </a:rPr>
              <a:t>Firmography </a:t>
            </a:r>
            <a:r>
              <a:rPr lang="en-US">
                <a:solidFill>
                  <a:schemeClr val="lt1"/>
                </a:solidFill>
                <a:latin typeface="IBM Plex Sans"/>
                <a:ea typeface="IBM Plex Sans"/>
                <a:cs typeface="IBM Plex Sans"/>
                <a:sym typeface="IBM Plex Sans"/>
              </a:rPr>
              <a:t>- Wellness clubs, Hotels, Universities, and Corporate Offices.</a:t>
            </a:r>
          </a:p>
          <a:p>
            <a:pPr marL="0" indent="0">
              <a:spcBef>
                <a:spcPts val="1200"/>
              </a:spcBef>
              <a:buFont typeface="Arial"/>
              <a:buNone/>
            </a:pPr>
            <a:r>
              <a:rPr lang="en-US" b="1">
                <a:solidFill>
                  <a:schemeClr val="lt1"/>
                </a:solidFill>
                <a:latin typeface="IBM Plex Sans"/>
                <a:ea typeface="IBM Plex Sans"/>
                <a:cs typeface="IBM Plex Sans"/>
                <a:sym typeface="IBM Plex Sans"/>
              </a:rPr>
              <a:t>Psychographic</a:t>
            </a:r>
            <a:r>
              <a:rPr lang="en-US">
                <a:solidFill>
                  <a:schemeClr val="lt1"/>
                </a:solidFill>
                <a:latin typeface="IBM Plex Sans"/>
                <a:ea typeface="IBM Plex Sans"/>
                <a:cs typeface="IBM Plex Sans"/>
                <a:sym typeface="IBM Plex Sans"/>
              </a:rPr>
              <a:t> -  Fashion enthusiasts, Immersive exercise experts, and Fitness enthusiasts.</a:t>
            </a:r>
          </a:p>
          <a:p>
            <a:pPr marL="0" indent="0">
              <a:buFont typeface="Arial"/>
              <a:buNone/>
            </a:pPr>
            <a:endParaRPr lang="en-US" sz="1700">
              <a:solidFill>
                <a:schemeClr val="lt1"/>
              </a:solidFill>
              <a:latin typeface="IBM Plex Sans"/>
              <a:ea typeface="IBM Plex Sans"/>
              <a:cs typeface="IBM Plex Sans"/>
              <a:sym typeface="IBM Plex Sans"/>
            </a:endParaRPr>
          </a:p>
          <a:p>
            <a:pPr marL="0" indent="0">
              <a:buClr>
                <a:schemeClr val="dk1"/>
              </a:buClr>
              <a:buSzPts val="1100"/>
              <a:buFont typeface="Arial"/>
              <a:buNone/>
            </a:pPr>
            <a:endParaRPr lang="en-US" sz="1700">
              <a:solidFill>
                <a:schemeClr val="lt1"/>
              </a:solidFill>
              <a:latin typeface="IBM Plex Sans"/>
              <a:ea typeface="IBM Plex Sans"/>
              <a:cs typeface="IBM Plex Sans"/>
              <a:sym typeface="IBM Plex Sans"/>
            </a:endParaRPr>
          </a:p>
          <a:p>
            <a:pPr marL="0" indent="0">
              <a:spcAft>
                <a:spcPts val="1200"/>
              </a:spcAft>
              <a:buFont typeface="Arial"/>
              <a:buNone/>
            </a:pPr>
            <a:endParaRPr lang="en-US" sz="2000" dirty="0">
              <a:solidFill>
                <a:schemeClr val="lt1"/>
              </a:solidFill>
              <a:latin typeface="IBM Plex Sans"/>
              <a:ea typeface="IBM Plex Sans"/>
              <a:cs typeface="IBM Plex Sans"/>
              <a:sym typeface="IBM Plex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96"/>
        <p:cNvGrpSpPr/>
        <p:nvPr/>
      </p:nvGrpSpPr>
      <p:grpSpPr>
        <a:xfrm>
          <a:off x="0" y="0"/>
          <a:ext cx="0" cy="0"/>
          <a:chOff x="0" y="0"/>
          <a:chExt cx="0" cy="0"/>
        </a:xfrm>
      </p:grpSpPr>
      <p:sp>
        <p:nvSpPr>
          <p:cNvPr id="197" name="Google Shape;197;p26"/>
          <p:cNvSpPr/>
          <p:nvPr/>
        </p:nvSpPr>
        <p:spPr>
          <a:xfrm>
            <a:off x="515825" y="198550"/>
            <a:ext cx="34368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8" name="Google Shape;198;p26"/>
          <p:cNvPicPr preferRelativeResize="0"/>
          <p:nvPr/>
        </p:nvPicPr>
        <p:blipFill rotWithShape="1">
          <a:blip r:embed="rId3">
            <a:alphaModFix/>
          </a:blip>
          <a:srcRect r="75266" b="15604"/>
          <a:stretch/>
        </p:blipFill>
        <p:spPr>
          <a:xfrm>
            <a:off x="311700" y="364600"/>
            <a:ext cx="3436726" cy="685600"/>
          </a:xfrm>
          <a:prstGeom prst="rect">
            <a:avLst/>
          </a:prstGeom>
          <a:noFill/>
          <a:ln>
            <a:noFill/>
          </a:ln>
        </p:spPr>
      </p:pic>
      <p:sp>
        <p:nvSpPr>
          <p:cNvPr id="199" name="Google Shape;199;p26"/>
          <p:cNvSpPr txBox="1">
            <a:spLocks noGrp="1"/>
          </p:cNvSpPr>
          <p:nvPr>
            <p:ph type="title"/>
          </p:nvPr>
        </p:nvSpPr>
        <p:spPr>
          <a:xfrm>
            <a:off x="515825" y="4210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Peloton Community</a:t>
            </a:r>
            <a:r>
              <a:rPr lang="en">
                <a:solidFill>
                  <a:schemeClr val="lt1"/>
                </a:solidFill>
                <a:latin typeface="IBM Plex Sans"/>
                <a:ea typeface="IBM Plex Sans"/>
                <a:cs typeface="IBM Plex Sans"/>
                <a:sym typeface="IBM Plex Sans"/>
              </a:rPr>
              <a:t> </a:t>
            </a:r>
            <a:endParaRPr>
              <a:solidFill>
                <a:schemeClr val="lt1"/>
              </a:solidFill>
              <a:latin typeface="IBM Plex Sans"/>
              <a:ea typeface="IBM Plex Sans"/>
              <a:cs typeface="IBM Plex Sans"/>
              <a:sym typeface="IBM Plex Sans"/>
            </a:endParaRPr>
          </a:p>
        </p:txBody>
      </p:sp>
      <p:sp>
        <p:nvSpPr>
          <p:cNvPr id="200" name="Google Shape;200;p26"/>
          <p:cNvSpPr txBox="1">
            <a:spLocks noGrp="1"/>
          </p:cNvSpPr>
          <p:nvPr>
            <p:ph type="body" idx="1"/>
          </p:nvPr>
        </p:nvSpPr>
        <p:spPr>
          <a:xfrm>
            <a:off x="311700" y="1464200"/>
            <a:ext cx="42603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Studio + On Demand Classes</a:t>
            </a:r>
            <a:endParaRPr>
              <a:solidFill>
                <a:schemeClr val="lt1"/>
              </a:solidFill>
              <a:latin typeface="IBM Plex Sans"/>
              <a:ea typeface="IBM Plex Sans"/>
              <a:cs typeface="IBM Plex Sans"/>
              <a:sym typeface="IBM Plex Sans"/>
            </a:endParaRPr>
          </a:p>
          <a:p>
            <a:pPr marL="457200" lvl="0" indent="-342900" algn="l" rtl="0">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Motivation </a:t>
            </a:r>
            <a:endParaRPr>
              <a:solidFill>
                <a:schemeClr val="lt1"/>
              </a:solidFill>
              <a:latin typeface="IBM Plex Sans"/>
              <a:ea typeface="IBM Plex Sans"/>
              <a:cs typeface="IBM Plex Sans"/>
              <a:sym typeface="IBM Plex Sans"/>
            </a:endParaRPr>
          </a:p>
          <a:p>
            <a:pPr marL="457200" lvl="0" indent="-342900" algn="l" rtl="0">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Accountability</a:t>
            </a:r>
            <a:endParaRPr>
              <a:solidFill>
                <a:schemeClr val="lt1"/>
              </a:solidFill>
              <a:latin typeface="IBM Plex Sans"/>
              <a:ea typeface="IBM Plex Sans"/>
              <a:cs typeface="IBM Plex Sans"/>
              <a:sym typeface="IBM Plex Sans"/>
            </a:endParaRPr>
          </a:p>
          <a:p>
            <a:pPr marL="457200" lvl="0" indent="-342900" algn="l" rtl="0">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Group Competition</a:t>
            </a:r>
            <a:endParaRPr>
              <a:solidFill>
                <a:schemeClr val="lt1"/>
              </a:solidFill>
              <a:latin typeface="IBM Plex Sans"/>
              <a:ea typeface="IBM Plex Sans"/>
              <a:cs typeface="IBM Plex Sans"/>
              <a:sym typeface="IBM Plex Sans"/>
            </a:endParaRPr>
          </a:p>
          <a:p>
            <a:pPr marL="457200" lvl="0" indent="-342900" algn="l" rtl="0">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Psychological Safety</a:t>
            </a:r>
            <a:endParaRPr>
              <a:solidFill>
                <a:schemeClr val="lt1"/>
              </a:solidFill>
              <a:latin typeface="IBM Plex Sans"/>
              <a:ea typeface="IBM Plex Sans"/>
              <a:cs typeface="IBM Plex Sans"/>
              <a:sym typeface="IBM Plex Sans"/>
            </a:endParaRPr>
          </a:p>
          <a:p>
            <a:pPr marL="457200" lvl="0" indent="-342900" algn="l" rtl="0">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Individuals with similar goals</a:t>
            </a:r>
            <a:endParaRPr>
              <a:solidFill>
                <a:schemeClr val="lt1"/>
              </a:solidFill>
              <a:latin typeface="IBM Plex Sans"/>
              <a:ea typeface="IBM Plex Sans"/>
              <a:cs typeface="IBM Plex Sans"/>
              <a:sym typeface="IBM Plex Sans"/>
            </a:endParaRPr>
          </a:p>
          <a:p>
            <a:pPr marL="0" lvl="0" indent="0" algn="l" rtl="0">
              <a:spcBef>
                <a:spcPts val="1200"/>
              </a:spcBef>
              <a:spcAft>
                <a:spcPts val="1200"/>
              </a:spcAft>
              <a:buNone/>
            </a:pPr>
            <a:endParaRPr>
              <a:solidFill>
                <a:schemeClr val="lt1"/>
              </a:solidFill>
              <a:latin typeface="IBM Plex Sans"/>
              <a:ea typeface="IBM Plex Sans"/>
              <a:cs typeface="IBM Plex Sans"/>
              <a:sym typeface="IBM Plex Sans"/>
            </a:endParaRPr>
          </a:p>
        </p:txBody>
      </p:sp>
      <p:pic>
        <p:nvPicPr>
          <p:cNvPr id="201" name="Google Shape;201;p2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pic>
        <p:nvPicPr>
          <p:cNvPr id="202" name="Google Shape;202;p2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088425" y="1170125"/>
            <a:ext cx="4783824" cy="27048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06"/>
        <p:cNvGrpSpPr/>
        <p:nvPr/>
      </p:nvGrpSpPr>
      <p:grpSpPr>
        <a:xfrm>
          <a:off x="0" y="0"/>
          <a:ext cx="0" cy="0"/>
          <a:chOff x="0" y="0"/>
          <a:chExt cx="0" cy="0"/>
        </a:xfrm>
      </p:grpSpPr>
      <p:sp>
        <p:nvSpPr>
          <p:cNvPr id="207" name="Google Shape;207;p27"/>
          <p:cNvSpPr/>
          <p:nvPr/>
        </p:nvSpPr>
        <p:spPr>
          <a:xfrm>
            <a:off x="515825" y="246500"/>
            <a:ext cx="34368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8" name="Google Shape;208;p27"/>
          <p:cNvPicPr preferRelativeResize="0"/>
          <p:nvPr/>
        </p:nvPicPr>
        <p:blipFill rotWithShape="1">
          <a:blip r:embed="rId3">
            <a:alphaModFix/>
          </a:blip>
          <a:srcRect r="75266" b="15604"/>
          <a:stretch/>
        </p:blipFill>
        <p:spPr>
          <a:xfrm>
            <a:off x="311700" y="412550"/>
            <a:ext cx="3436726" cy="685600"/>
          </a:xfrm>
          <a:prstGeom prst="rect">
            <a:avLst/>
          </a:prstGeom>
          <a:noFill/>
          <a:ln>
            <a:noFill/>
          </a:ln>
        </p:spPr>
      </p:pic>
      <p:sp>
        <p:nvSpPr>
          <p:cNvPr id="209" name="Google Shape;209;p27"/>
          <p:cNvSpPr txBox="1">
            <a:spLocks noGrp="1"/>
          </p:cNvSpPr>
          <p:nvPr>
            <p:ph type="title"/>
          </p:nvPr>
        </p:nvSpPr>
        <p:spPr>
          <a:xfrm>
            <a:off x="515825" y="4690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Gamification</a:t>
            </a:r>
            <a:r>
              <a:rPr lang="en">
                <a:solidFill>
                  <a:schemeClr val="lt1"/>
                </a:solidFill>
                <a:latin typeface="IBM Plex Sans"/>
                <a:ea typeface="IBM Plex Sans"/>
                <a:cs typeface="IBM Plex Sans"/>
                <a:sym typeface="IBM Plex Sans"/>
              </a:rPr>
              <a:t> </a:t>
            </a:r>
            <a:endParaRPr>
              <a:solidFill>
                <a:schemeClr val="lt1"/>
              </a:solidFill>
              <a:latin typeface="IBM Plex Sans"/>
              <a:ea typeface="IBM Plex Sans"/>
              <a:cs typeface="IBM Plex Sans"/>
              <a:sym typeface="IBM Plex Sans"/>
            </a:endParaRPr>
          </a:p>
        </p:txBody>
      </p:sp>
      <p:sp>
        <p:nvSpPr>
          <p:cNvPr id="210" name="Google Shape;210;p27"/>
          <p:cNvSpPr txBox="1">
            <a:spLocks noGrp="1"/>
          </p:cNvSpPr>
          <p:nvPr>
            <p:ph type="body" idx="1"/>
          </p:nvPr>
        </p:nvSpPr>
        <p:spPr>
          <a:xfrm>
            <a:off x="311700" y="1296350"/>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Exclusive Tour de France content</a:t>
            </a:r>
            <a:endParaRPr>
              <a:solidFill>
                <a:schemeClr val="lt1"/>
              </a:solidFill>
              <a:latin typeface="IBM Plex Sans"/>
              <a:ea typeface="IBM Plex Sans"/>
              <a:cs typeface="IBM Plex Sans"/>
              <a:sym typeface="IBM Plex Sans"/>
            </a:endParaRPr>
          </a:p>
          <a:p>
            <a:pPr marL="457200" lvl="0" indent="-342900" algn="l" rtl="0">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Ride with celebrities</a:t>
            </a:r>
            <a:endParaRPr>
              <a:solidFill>
                <a:schemeClr val="lt1"/>
              </a:solidFill>
              <a:latin typeface="IBM Plex Sans"/>
              <a:ea typeface="IBM Plex Sans"/>
              <a:cs typeface="IBM Plex Sans"/>
              <a:sym typeface="IBM Plex Sans"/>
            </a:endParaRPr>
          </a:p>
          <a:p>
            <a:pPr marL="457200" lvl="0" indent="-342900" algn="l" rtl="0">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Competition + leaderboards</a:t>
            </a:r>
            <a:endParaRPr>
              <a:solidFill>
                <a:schemeClr val="lt1"/>
              </a:solidFill>
              <a:latin typeface="IBM Plex Sans"/>
              <a:ea typeface="IBM Plex Sans"/>
              <a:cs typeface="IBM Plex Sans"/>
              <a:sym typeface="IBM Plex Sans"/>
            </a:endParaRPr>
          </a:p>
          <a:p>
            <a:pPr marL="457200" lvl="0" indent="-342900" algn="l" rtl="0">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Wearable tech partnerships</a:t>
            </a:r>
            <a:endParaRPr>
              <a:solidFill>
                <a:schemeClr val="lt1"/>
              </a:solidFill>
              <a:latin typeface="IBM Plex Sans"/>
              <a:ea typeface="IBM Plex Sans"/>
              <a:cs typeface="IBM Plex Sans"/>
              <a:sym typeface="IBM Plex Sans"/>
            </a:endParaRPr>
          </a:p>
          <a:p>
            <a:pPr marL="457200" lvl="0" indent="-342900" algn="l" rtl="0">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New product / pre-release</a:t>
            </a:r>
            <a:endParaRPr>
              <a:solidFill>
                <a:schemeClr val="lt1"/>
              </a:solidFill>
              <a:latin typeface="IBM Plex Sans"/>
              <a:ea typeface="IBM Plex Sans"/>
              <a:cs typeface="IBM Plex Sans"/>
              <a:sym typeface="IBM Plex Sans"/>
            </a:endParaRPr>
          </a:p>
          <a:p>
            <a:pPr marL="457200" lvl="0" indent="-342900" algn="l" rtl="0">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Increased class variety</a:t>
            </a:r>
            <a:endParaRPr>
              <a:solidFill>
                <a:schemeClr val="lt1"/>
              </a:solidFill>
              <a:latin typeface="IBM Plex Sans"/>
              <a:ea typeface="IBM Plex Sans"/>
              <a:cs typeface="IBM Plex Sans"/>
              <a:sym typeface="IBM Plex Sans"/>
            </a:endParaRPr>
          </a:p>
          <a:p>
            <a:pPr marL="0" lvl="0" indent="0" algn="l" rtl="0">
              <a:spcBef>
                <a:spcPts val="1200"/>
              </a:spcBef>
              <a:spcAft>
                <a:spcPts val="1200"/>
              </a:spcAft>
              <a:buNone/>
            </a:pPr>
            <a:endParaRPr>
              <a:solidFill>
                <a:schemeClr val="lt1"/>
              </a:solidFill>
              <a:latin typeface="IBM Plex Sans"/>
              <a:ea typeface="IBM Plex Sans"/>
              <a:cs typeface="IBM Plex Sans"/>
              <a:sym typeface="IBM Plex Sans"/>
            </a:endParaRPr>
          </a:p>
        </p:txBody>
      </p:sp>
      <p:pic>
        <p:nvPicPr>
          <p:cNvPr id="211" name="Google Shape;211;p2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pic>
        <p:nvPicPr>
          <p:cNvPr id="212" name="Google Shape;212;p27"/>
          <p:cNvPicPr preferRelativeResize="0"/>
          <p:nvPr/>
        </p:nvPicPr>
        <p:blipFill rotWithShape="1">
          <a:blip r:embed="rId5" cstate="email">
            <a:alphaModFix/>
            <a:extLst>
              <a:ext uri="{28A0092B-C50C-407E-A947-70E740481C1C}">
                <a14:useLocalDpi xmlns:a14="http://schemas.microsoft.com/office/drawing/2010/main"/>
              </a:ext>
            </a:extLst>
          </a:blip>
          <a:srcRect l="13605" r="13048"/>
          <a:stretch/>
        </p:blipFill>
        <p:spPr>
          <a:xfrm>
            <a:off x="4351025" y="671425"/>
            <a:ext cx="4738324" cy="36336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29"/>
        <p:cNvGrpSpPr/>
        <p:nvPr/>
      </p:nvGrpSpPr>
      <p:grpSpPr>
        <a:xfrm>
          <a:off x="0" y="0"/>
          <a:ext cx="0" cy="0"/>
          <a:chOff x="0" y="0"/>
          <a:chExt cx="0" cy="0"/>
        </a:xfrm>
      </p:grpSpPr>
      <p:sp>
        <p:nvSpPr>
          <p:cNvPr id="230" name="Google Shape;230;p29"/>
          <p:cNvSpPr/>
          <p:nvPr/>
        </p:nvSpPr>
        <p:spPr>
          <a:xfrm>
            <a:off x="515825" y="234525"/>
            <a:ext cx="81651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1" name="Google Shape;231;p29"/>
          <p:cNvPicPr preferRelativeResize="0"/>
          <p:nvPr/>
        </p:nvPicPr>
        <p:blipFill rotWithShape="1">
          <a:blip r:embed="rId3">
            <a:alphaModFix/>
          </a:blip>
          <a:srcRect r="75266" b="15604"/>
          <a:stretch/>
        </p:blipFill>
        <p:spPr>
          <a:xfrm>
            <a:off x="311700" y="400575"/>
            <a:ext cx="8164951" cy="685600"/>
          </a:xfrm>
          <a:prstGeom prst="rect">
            <a:avLst/>
          </a:prstGeom>
          <a:noFill/>
          <a:ln>
            <a:noFill/>
          </a:ln>
        </p:spPr>
      </p:pic>
      <p:sp>
        <p:nvSpPr>
          <p:cNvPr id="232" name="Google Shape;232;p29"/>
          <p:cNvSpPr txBox="1">
            <a:spLocks noGrp="1"/>
          </p:cNvSpPr>
          <p:nvPr>
            <p:ph type="title"/>
          </p:nvPr>
        </p:nvSpPr>
        <p:spPr>
          <a:xfrm>
            <a:off x="515825" y="457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Targeted Customer Segments and Value Proposition</a:t>
            </a:r>
            <a:r>
              <a:rPr lang="en">
                <a:solidFill>
                  <a:schemeClr val="lt1"/>
                </a:solidFill>
                <a:latin typeface="IBM Plex Sans"/>
                <a:ea typeface="IBM Plex Sans"/>
                <a:cs typeface="IBM Plex Sans"/>
                <a:sym typeface="IBM Plex Sans"/>
              </a:rPr>
              <a:t> </a:t>
            </a:r>
            <a:endParaRPr>
              <a:solidFill>
                <a:schemeClr val="lt1"/>
              </a:solidFill>
              <a:latin typeface="IBM Plex Sans"/>
              <a:ea typeface="IBM Plex Sans"/>
              <a:cs typeface="IBM Plex Sans"/>
              <a:sym typeface="IBM Plex Sans"/>
            </a:endParaRPr>
          </a:p>
        </p:txBody>
      </p:sp>
      <p:sp>
        <p:nvSpPr>
          <p:cNvPr id="233" name="Google Shape;233;p29"/>
          <p:cNvSpPr/>
          <p:nvPr/>
        </p:nvSpPr>
        <p:spPr>
          <a:xfrm>
            <a:off x="311700" y="1849450"/>
            <a:ext cx="2579700" cy="2585400"/>
          </a:xfrm>
          <a:prstGeom prst="snip1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9"/>
          <p:cNvSpPr/>
          <p:nvPr/>
        </p:nvSpPr>
        <p:spPr>
          <a:xfrm>
            <a:off x="6252600" y="1849450"/>
            <a:ext cx="2579700" cy="2585400"/>
          </a:xfrm>
          <a:prstGeom prst="snip1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9"/>
          <p:cNvSpPr/>
          <p:nvPr/>
        </p:nvSpPr>
        <p:spPr>
          <a:xfrm>
            <a:off x="3282150" y="1849450"/>
            <a:ext cx="2579700" cy="2585400"/>
          </a:xfrm>
          <a:prstGeom prst="snip1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9"/>
          <p:cNvSpPr txBox="1">
            <a:spLocks noGrp="1"/>
          </p:cNvSpPr>
          <p:nvPr>
            <p:ph type="body" idx="1"/>
          </p:nvPr>
        </p:nvSpPr>
        <p:spPr>
          <a:xfrm>
            <a:off x="3282150" y="1849450"/>
            <a:ext cx="2579700" cy="258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200" dirty="0">
                <a:solidFill>
                  <a:schemeClr val="dk1"/>
                </a:solidFill>
                <a:latin typeface="IBM Plex Sans"/>
                <a:ea typeface="IBM Plex Sans"/>
                <a:cs typeface="IBM Plex Sans"/>
                <a:sym typeface="IBM Plex Sans"/>
              </a:rPr>
              <a:t>Working parents with inconsistent schedules that revolve around their children and value exercise but can’t make traditional class times, Peloton offers a large catalog of on-demand classes that vary in time and intensity for convenient and flexible workouts.</a:t>
            </a:r>
            <a:endParaRPr sz="1200" dirty="0">
              <a:solidFill>
                <a:schemeClr val="dk1"/>
              </a:solidFill>
              <a:latin typeface="IBM Plex Sans"/>
              <a:ea typeface="IBM Plex Sans"/>
              <a:cs typeface="IBM Plex Sans"/>
              <a:sym typeface="IBM Plex Sans"/>
            </a:endParaRPr>
          </a:p>
          <a:p>
            <a:pPr marL="0" lvl="0" indent="0" algn="l" rtl="0">
              <a:spcBef>
                <a:spcPts val="0"/>
              </a:spcBef>
              <a:spcAft>
                <a:spcPts val="1200"/>
              </a:spcAft>
              <a:buNone/>
            </a:pPr>
            <a:endParaRPr dirty="0">
              <a:solidFill>
                <a:schemeClr val="dk1"/>
              </a:solidFill>
              <a:latin typeface="IBM Plex Sans"/>
              <a:ea typeface="IBM Plex Sans"/>
              <a:cs typeface="IBM Plex Sans"/>
              <a:sym typeface="IBM Plex Sans"/>
            </a:endParaRPr>
          </a:p>
        </p:txBody>
      </p:sp>
      <p:sp>
        <p:nvSpPr>
          <p:cNvPr id="237" name="Google Shape;237;p29"/>
          <p:cNvSpPr txBox="1">
            <a:spLocks noGrp="1"/>
          </p:cNvSpPr>
          <p:nvPr>
            <p:ph type="body" idx="1"/>
          </p:nvPr>
        </p:nvSpPr>
        <p:spPr>
          <a:xfrm>
            <a:off x="6252600" y="1849450"/>
            <a:ext cx="2579700" cy="258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200" dirty="0">
                <a:solidFill>
                  <a:schemeClr val="dk1"/>
                </a:solidFill>
                <a:latin typeface="IBM Plex Sans"/>
                <a:ea typeface="IBM Plex Sans"/>
                <a:cs typeface="IBM Plex Sans"/>
                <a:sym typeface="IBM Plex Sans"/>
              </a:rPr>
              <a:t>For our loyal premium customers, our high-end facilities provide you with a luxurious fitness experience tailored to your expectations with top-notch trainers and exclusive member benefits.</a:t>
            </a:r>
            <a:endParaRPr sz="1200" dirty="0">
              <a:solidFill>
                <a:schemeClr val="dk1"/>
              </a:solidFill>
              <a:latin typeface="IBM Plex Sans"/>
              <a:ea typeface="IBM Plex Sans"/>
              <a:cs typeface="IBM Plex Sans"/>
              <a:sym typeface="IBM Plex Sans"/>
            </a:endParaRPr>
          </a:p>
          <a:p>
            <a:pPr marL="0" lvl="0" indent="0" algn="l" rtl="0">
              <a:spcBef>
                <a:spcPts val="0"/>
              </a:spcBef>
              <a:spcAft>
                <a:spcPts val="1200"/>
              </a:spcAft>
              <a:buNone/>
            </a:pPr>
            <a:endParaRPr sz="1300" dirty="0">
              <a:solidFill>
                <a:schemeClr val="dk1"/>
              </a:solidFill>
              <a:latin typeface="IBM Plex Sans"/>
              <a:ea typeface="IBM Plex Sans"/>
              <a:cs typeface="IBM Plex Sans"/>
              <a:sym typeface="IBM Plex Sans"/>
            </a:endParaRPr>
          </a:p>
        </p:txBody>
      </p:sp>
      <p:sp>
        <p:nvSpPr>
          <p:cNvPr id="238" name="Google Shape;238;p29"/>
          <p:cNvSpPr txBox="1">
            <a:spLocks noGrp="1"/>
          </p:cNvSpPr>
          <p:nvPr>
            <p:ph type="body" idx="1"/>
          </p:nvPr>
        </p:nvSpPr>
        <p:spPr>
          <a:xfrm>
            <a:off x="311700" y="1849450"/>
            <a:ext cx="2579700" cy="258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200" dirty="0">
                <a:solidFill>
                  <a:schemeClr val="dk1"/>
                </a:solidFill>
                <a:latin typeface="IBM Plex Sans"/>
                <a:ea typeface="IBM Plex Sans"/>
                <a:cs typeface="IBM Plex Sans"/>
                <a:sym typeface="IBM Plex Sans"/>
              </a:rPr>
              <a:t>For extrinsically motivated Fitness Enthusiasts that value convenience, Peloton provides a robust community of users and world-class trainers that will engage you holding you accountable during your fitness journey. </a:t>
            </a:r>
            <a:endParaRPr sz="1200" dirty="0">
              <a:solidFill>
                <a:schemeClr val="dk1"/>
              </a:solidFill>
              <a:latin typeface="IBM Plex Sans"/>
              <a:ea typeface="IBM Plex Sans"/>
              <a:cs typeface="IBM Plex Sans"/>
              <a:sym typeface="IBM Plex Sans"/>
            </a:endParaRPr>
          </a:p>
          <a:p>
            <a:pPr marL="0" lvl="0" indent="0" algn="l" rtl="0">
              <a:spcBef>
                <a:spcPts val="0"/>
              </a:spcBef>
              <a:spcAft>
                <a:spcPts val="1200"/>
              </a:spcAft>
              <a:buNone/>
            </a:pPr>
            <a:endParaRPr sz="2000" dirty="0">
              <a:solidFill>
                <a:schemeClr val="dk1"/>
              </a:solidFill>
              <a:latin typeface="IBM Plex Sans"/>
              <a:ea typeface="IBM Plex Sans"/>
              <a:cs typeface="IBM Plex Sans"/>
              <a:sym typeface="IBM Plex Sans"/>
            </a:endParaRPr>
          </a:p>
        </p:txBody>
      </p:sp>
      <p:sp>
        <p:nvSpPr>
          <p:cNvPr id="239" name="Google Shape;239;p29"/>
          <p:cNvSpPr txBox="1"/>
          <p:nvPr/>
        </p:nvSpPr>
        <p:spPr>
          <a:xfrm>
            <a:off x="311700" y="1343825"/>
            <a:ext cx="2107500" cy="400200"/>
          </a:xfrm>
          <a:prstGeom prst="rect">
            <a:avLst/>
          </a:prstGeom>
          <a:solidFill>
            <a:srgbClr val="D2002F"/>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Fitness Enthusiasts</a:t>
            </a:r>
            <a:endParaRPr b="1">
              <a:solidFill>
                <a:schemeClr val="lt1"/>
              </a:solidFill>
              <a:latin typeface="IBM Plex Sans"/>
              <a:ea typeface="IBM Plex Sans"/>
              <a:cs typeface="IBM Plex Sans"/>
              <a:sym typeface="IBM Plex Sans"/>
            </a:endParaRPr>
          </a:p>
        </p:txBody>
      </p:sp>
      <p:sp>
        <p:nvSpPr>
          <p:cNvPr id="240" name="Google Shape;240;p29"/>
          <p:cNvSpPr txBox="1"/>
          <p:nvPr/>
        </p:nvSpPr>
        <p:spPr>
          <a:xfrm>
            <a:off x="3301938" y="1343825"/>
            <a:ext cx="2107500" cy="400200"/>
          </a:xfrm>
          <a:prstGeom prst="rect">
            <a:avLst/>
          </a:prstGeom>
          <a:solidFill>
            <a:srgbClr val="D2002F"/>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Working Parents</a:t>
            </a:r>
            <a:endParaRPr b="1">
              <a:solidFill>
                <a:schemeClr val="lt1"/>
              </a:solidFill>
              <a:latin typeface="IBM Plex Sans"/>
              <a:ea typeface="IBM Plex Sans"/>
              <a:cs typeface="IBM Plex Sans"/>
              <a:sym typeface="IBM Plex Sans"/>
            </a:endParaRPr>
          </a:p>
        </p:txBody>
      </p:sp>
      <p:sp>
        <p:nvSpPr>
          <p:cNvPr id="241" name="Google Shape;241;p29"/>
          <p:cNvSpPr txBox="1"/>
          <p:nvPr/>
        </p:nvSpPr>
        <p:spPr>
          <a:xfrm>
            <a:off x="6252600" y="1343825"/>
            <a:ext cx="2107500" cy="400200"/>
          </a:xfrm>
          <a:prstGeom prst="rect">
            <a:avLst/>
          </a:prstGeom>
          <a:solidFill>
            <a:srgbClr val="D2002F"/>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Fitness Boutique Users</a:t>
            </a:r>
            <a:endParaRPr b="1">
              <a:solidFill>
                <a:schemeClr val="lt1"/>
              </a:solidFill>
              <a:latin typeface="IBM Plex Sans"/>
              <a:ea typeface="IBM Plex Sans"/>
              <a:cs typeface="IBM Plex Sans"/>
              <a:sym typeface="IBM Plex Sans"/>
            </a:endParaRPr>
          </a:p>
        </p:txBody>
      </p:sp>
      <p:pic>
        <p:nvPicPr>
          <p:cNvPr id="242" name="Google Shape;242;p29"/>
          <p:cNvPicPr preferRelativeResize="0"/>
          <p:nvPr/>
        </p:nvPicPr>
        <p:blipFill rotWithShape="1">
          <a:blip r:embed="rId4" cstate="email">
            <a:alphaModFix/>
            <a:extLst>
              <a:ext uri="{28A0092B-C50C-407E-A947-70E740481C1C}">
                <a14:useLocalDpi xmlns:a14="http://schemas.microsoft.com/office/drawing/2010/main"/>
              </a:ext>
            </a:extLst>
          </a:blip>
          <a:srcRect l="7809" r="11681"/>
          <a:stretch/>
        </p:blipFill>
        <p:spPr>
          <a:xfrm>
            <a:off x="1368175" y="3841688"/>
            <a:ext cx="1663425" cy="1081275"/>
          </a:xfrm>
          <a:prstGeom prst="rect">
            <a:avLst/>
          </a:prstGeom>
          <a:noFill/>
          <a:ln>
            <a:noFill/>
          </a:ln>
        </p:spPr>
      </p:pic>
      <p:pic>
        <p:nvPicPr>
          <p:cNvPr id="243" name="Google Shape;243;p2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315424" y="3845763"/>
            <a:ext cx="1663426" cy="1108942"/>
          </a:xfrm>
          <a:prstGeom prst="rect">
            <a:avLst/>
          </a:prstGeom>
          <a:noFill/>
          <a:ln>
            <a:noFill/>
          </a:ln>
        </p:spPr>
      </p:pic>
      <p:pic>
        <p:nvPicPr>
          <p:cNvPr id="244" name="Google Shape;244;p29"/>
          <p:cNvPicPr preferRelativeResize="0"/>
          <p:nvPr/>
        </p:nvPicPr>
        <p:blipFill rotWithShape="1">
          <a:blip r:embed="rId6" cstate="email">
            <a:alphaModFix/>
            <a:extLst>
              <a:ext uri="{28A0092B-C50C-407E-A947-70E740481C1C}">
                <a14:useLocalDpi xmlns:a14="http://schemas.microsoft.com/office/drawing/2010/main"/>
              </a:ext>
            </a:extLst>
          </a:blip>
          <a:srcRect t="11142"/>
          <a:stretch/>
        </p:blipFill>
        <p:spPr>
          <a:xfrm>
            <a:off x="7262675" y="3827849"/>
            <a:ext cx="1663425" cy="11089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48"/>
        <p:cNvGrpSpPr/>
        <p:nvPr/>
      </p:nvGrpSpPr>
      <p:grpSpPr>
        <a:xfrm>
          <a:off x="0" y="0"/>
          <a:ext cx="0" cy="0"/>
          <a:chOff x="0" y="0"/>
          <a:chExt cx="0" cy="0"/>
        </a:xfrm>
      </p:grpSpPr>
      <p:sp>
        <p:nvSpPr>
          <p:cNvPr id="249" name="Google Shape;249;p30"/>
          <p:cNvSpPr/>
          <p:nvPr/>
        </p:nvSpPr>
        <p:spPr>
          <a:xfrm>
            <a:off x="5203750" y="1226550"/>
            <a:ext cx="2999100" cy="2690400"/>
          </a:xfrm>
          <a:prstGeom prst="ellipse">
            <a:avLst/>
          </a:prstGeom>
          <a:solidFill>
            <a:srgbClr val="F232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0"/>
          <p:cNvSpPr/>
          <p:nvPr/>
        </p:nvSpPr>
        <p:spPr>
          <a:xfrm>
            <a:off x="2890100" y="2497925"/>
            <a:ext cx="2999100" cy="2690400"/>
          </a:xfrm>
          <a:prstGeom prst="ellipse">
            <a:avLst/>
          </a:prstGeom>
          <a:solidFill>
            <a:srgbClr val="F232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0"/>
          <p:cNvSpPr/>
          <p:nvPr/>
        </p:nvSpPr>
        <p:spPr>
          <a:xfrm>
            <a:off x="2890100" y="-19325"/>
            <a:ext cx="2999100" cy="2690400"/>
          </a:xfrm>
          <a:prstGeom prst="ellipse">
            <a:avLst/>
          </a:prstGeom>
          <a:solidFill>
            <a:srgbClr val="F232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0"/>
          <p:cNvSpPr/>
          <p:nvPr/>
        </p:nvSpPr>
        <p:spPr>
          <a:xfrm>
            <a:off x="551900" y="1226550"/>
            <a:ext cx="2999100" cy="2690400"/>
          </a:xfrm>
          <a:prstGeom prst="ellipse">
            <a:avLst/>
          </a:prstGeom>
          <a:solidFill>
            <a:srgbClr val="F232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3" name="Google Shape;253;p30"/>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sp>
        <p:nvSpPr>
          <p:cNvPr id="254" name="Google Shape;254;p30"/>
          <p:cNvSpPr/>
          <p:nvPr/>
        </p:nvSpPr>
        <p:spPr>
          <a:xfrm>
            <a:off x="3127250" y="134875"/>
            <a:ext cx="2524800" cy="2382000"/>
          </a:xfrm>
          <a:prstGeom prst="ellipse">
            <a:avLst/>
          </a:prstGeom>
          <a:solidFill>
            <a:schemeClr val="lt2"/>
          </a:solidFill>
          <a:ln w="9525" cap="flat" cmpd="sng">
            <a:solidFill>
              <a:srgbClr val="F232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0"/>
          <p:cNvSpPr/>
          <p:nvPr/>
        </p:nvSpPr>
        <p:spPr>
          <a:xfrm>
            <a:off x="789050" y="1380750"/>
            <a:ext cx="2524800" cy="2382000"/>
          </a:xfrm>
          <a:prstGeom prst="ellipse">
            <a:avLst/>
          </a:prstGeom>
          <a:solidFill>
            <a:schemeClr val="lt2"/>
          </a:solidFill>
          <a:ln w="9525" cap="flat" cmpd="sng">
            <a:solidFill>
              <a:srgbClr val="F232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0"/>
          <p:cNvSpPr/>
          <p:nvPr/>
        </p:nvSpPr>
        <p:spPr>
          <a:xfrm>
            <a:off x="3127250" y="2652125"/>
            <a:ext cx="2524800" cy="2382000"/>
          </a:xfrm>
          <a:prstGeom prst="ellipse">
            <a:avLst/>
          </a:prstGeom>
          <a:solidFill>
            <a:schemeClr val="lt2"/>
          </a:solidFill>
          <a:ln w="9525" cap="flat" cmpd="sng">
            <a:solidFill>
              <a:srgbClr val="F232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0"/>
          <p:cNvSpPr/>
          <p:nvPr/>
        </p:nvSpPr>
        <p:spPr>
          <a:xfrm>
            <a:off x="5440900" y="1380750"/>
            <a:ext cx="2524800" cy="2382000"/>
          </a:xfrm>
          <a:prstGeom prst="ellipse">
            <a:avLst/>
          </a:prstGeom>
          <a:solidFill>
            <a:schemeClr val="lt2"/>
          </a:solidFill>
          <a:ln w="9525" cap="flat" cmpd="sng">
            <a:solidFill>
              <a:srgbClr val="F232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0"/>
          <p:cNvSpPr txBox="1">
            <a:spLocks noGrp="1"/>
          </p:cNvSpPr>
          <p:nvPr>
            <p:ph type="body" idx="1"/>
          </p:nvPr>
        </p:nvSpPr>
        <p:spPr>
          <a:xfrm>
            <a:off x="1061900" y="1918875"/>
            <a:ext cx="2065500" cy="1443900"/>
          </a:xfrm>
          <a:prstGeom prst="rect">
            <a:avLst/>
          </a:prstGeom>
        </p:spPr>
        <p:txBody>
          <a:bodyPr spcFirstLastPara="1" wrap="square" lIns="91425" tIns="91425" rIns="91425" bIns="91425" anchor="t" anchorCtr="0">
            <a:noAutofit/>
          </a:bodyPr>
          <a:lstStyle/>
          <a:p>
            <a:pPr marL="228600" lvl="0" indent="-311150" algn="l" rtl="0">
              <a:lnSpc>
                <a:spcPct val="95000"/>
              </a:lnSpc>
              <a:spcBef>
                <a:spcPts val="0"/>
              </a:spcBef>
              <a:spcAft>
                <a:spcPts val="0"/>
              </a:spcAft>
              <a:buClr>
                <a:schemeClr val="dk1"/>
              </a:buClr>
              <a:buSzPts val="1300"/>
              <a:buFont typeface="IBM Plex Sans"/>
              <a:buChar char="●"/>
            </a:pPr>
            <a:r>
              <a:rPr lang="en" sz="1300">
                <a:solidFill>
                  <a:schemeClr val="dk1"/>
                </a:solidFill>
                <a:latin typeface="IBM Plex Sans"/>
                <a:ea typeface="IBM Plex Sans"/>
                <a:cs typeface="IBM Plex Sans"/>
                <a:sym typeface="IBM Plex Sans"/>
              </a:rPr>
              <a:t>Digital Marketing (Amazon, Social Media)</a:t>
            </a:r>
            <a:endParaRPr sz="1300">
              <a:solidFill>
                <a:schemeClr val="dk1"/>
              </a:solidFill>
              <a:latin typeface="IBM Plex Sans"/>
              <a:ea typeface="IBM Plex Sans"/>
              <a:cs typeface="IBM Plex Sans"/>
              <a:sym typeface="IBM Plex Sans"/>
            </a:endParaRPr>
          </a:p>
          <a:p>
            <a:pPr marL="228600" lvl="0" indent="-311150" algn="l" rtl="0">
              <a:lnSpc>
                <a:spcPct val="95000"/>
              </a:lnSpc>
              <a:spcBef>
                <a:spcPts val="0"/>
              </a:spcBef>
              <a:spcAft>
                <a:spcPts val="0"/>
              </a:spcAft>
              <a:buClr>
                <a:schemeClr val="dk1"/>
              </a:buClr>
              <a:buSzPts val="1300"/>
              <a:buFont typeface="IBM Plex Sans"/>
              <a:buChar char="●"/>
            </a:pPr>
            <a:r>
              <a:rPr lang="en" sz="1300">
                <a:solidFill>
                  <a:schemeClr val="dk1"/>
                </a:solidFill>
                <a:latin typeface="IBM Plex Sans"/>
                <a:ea typeface="IBM Plex Sans"/>
                <a:cs typeface="IBM Plex Sans"/>
                <a:sym typeface="IBM Plex Sans"/>
              </a:rPr>
              <a:t>Celebrity Influencers </a:t>
            </a:r>
            <a:endParaRPr sz="1300">
              <a:solidFill>
                <a:schemeClr val="dk1"/>
              </a:solidFill>
              <a:latin typeface="IBM Plex Sans"/>
              <a:ea typeface="IBM Plex Sans"/>
              <a:cs typeface="IBM Plex Sans"/>
              <a:sym typeface="IBM Plex Sans"/>
            </a:endParaRPr>
          </a:p>
          <a:p>
            <a:pPr marL="228600" lvl="0" indent="-311150" algn="l" rtl="0">
              <a:lnSpc>
                <a:spcPct val="95000"/>
              </a:lnSpc>
              <a:spcBef>
                <a:spcPts val="0"/>
              </a:spcBef>
              <a:spcAft>
                <a:spcPts val="0"/>
              </a:spcAft>
              <a:buClr>
                <a:schemeClr val="dk1"/>
              </a:buClr>
              <a:buSzPts val="1300"/>
              <a:buFont typeface="IBM Plex Sans"/>
              <a:buChar char="●"/>
            </a:pPr>
            <a:r>
              <a:rPr lang="en" sz="1300">
                <a:solidFill>
                  <a:schemeClr val="dk1"/>
                </a:solidFill>
                <a:latin typeface="IBM Plex Sans"/>
                <a:ea typeface="IBM Plex Sans"/>
                <a:cs typeface="IBM Plex Sans"/>
                <a:sym typeface="IBM Plex Sans"/>
              </a:rPr>
              <a:t>Marketing  campaigns</a:t>
            </a:r>
            <a:endParaRPr sz="1300">
              <a:solidFill>
                <a:schemeClr val="dk1"/>
              </a:solidFill>
              <a:latin typeface="IBM Plex Sans"/>
              <a:ea typeface="IBM Plex Sans"/>
              <a:cs typeface="IBM Plex Sans"/>
              <a:sym typeface="IBM Plex Sans"/>
            </a:endParaRPr>
          </a:p>
          <a:p>
            <a:pPr marL="228600" lvl="0" indent="-311150" algn="l" rtl="0">
              <a:lnSpc>
                <a:spcPct val="95000"/>
              </a:lnSpc>
              <a:spcBef>
                <a:spcPts val="0"/>
              </a:spcBef>
              <a:spcAft>
                <a:spcPts val="0"/>
              </a:spcAft>
              <a:buClr>
                <a:schemeClr val="dk1"/>
              </a:buClr>
              <a:buSzPts val="1300"/>
              <a:buFont typeface="IBM Plex Sans"/>
              <a:buChar char="●"/>
            </a:pPr>
            <a:r>
              <a:rPr lang="en" sz="1300">
                <a:solidFill>
                  <a:schemeClr val="dk1"/>
                </a:solidFill>
                <a:latin typeface="IBM Plex Sans"/>
                <a:ea typeface="IBM Plex Sans"/>
                <a:cs typeface="IBM Plex Sans"/>
                <a:sym typeface="IBM Plex Sans"/>
              </a:rPr>
              <a:t>Word of mouth </a:t>
            </a:r>
            <a:endParaRPr sz="1300">
              <a:solidFill>
                <a:schemeClr val="dk1"/>
              </a:solidFill>
              <a:latin typeface="IBM Plex Sans"/>
              <a:ea typeface="IBM Plex Sans"/>
              <a:cs typeface="IBM Plex Sans"/>
              <a:sym typeface="IBM Plex Sans"/>
            </a:endParaRPr>
          </a:p>
        </p:txBody>
      </p:sp>
      <p:sp>
        <p:nvSpPr>
          <p:cNvPr id="259" name="Google Shape;259;p30"/>
          <p:cNvSpPr txBox="1">
            <a:spLocks noGrp="1"/>
          </p:cNvSpPr>
          <p:nvPr>
            <p:ph type="body" idx="1"/>
          </p:nvPr>
        </p:nvSpPr>
        <p:spPr>
          <a:xfrm>
            <a:off x="5738300" y="1918875"/>
            <a:ext cx="1979100" cy="1443900"/>
          </a:xfrm>
          <a:prstGeom prst="rect">
            <a:avLst/>
          </a:prstGeom>
        </p:spPr>
        <p:txBody>
          <a:bodyPr spcFirstLastPara="1" wrap="square" lIns="91425" tIns="91425" rIns="91425" bIns="91425" anchor="t" anchorCtr="0">
            <a:noAutofit/>
          </a:bodyPr>
          <a:lstStyle/>
          <a:p>
            <a:pPr marL="285750" lvl="0" indent="-317500" algn="l" rtl="0">
              <a:spcBef>
                <a:spcPts val="0"/>
              </a:spcBef>
              <a:spcAft>
                <a:spcPts val="0"/>
              </a:spcAft>
              <a:buClr>
                <a:schemeClr val="dk1"/>
              </a:buClr>
              <a:buSzPts val="1400"/>
              <a:buFont typeface="IBM Plex Sans"/>
              <a:buChar char="●"/>
            </a:pPr>
            <a:r>
              <a:rPr lang="en" sz="1400">
                <a:solidFill>
                  <a:schemeClr val="dk1"/>
                </a:solidFill>
                <a:latin typeface="IBM Plex Sans"/>
                <a:ea typeface="IBM Plex Sans"/>
                <a:cs typeface="IBM Plex Sans"/>
                <a:sym typeface="IBM Plex Sans"/>
              </a:rPr>
              <a:t>Premium Pricing for equipments</a:t>
            </a:r>
            <a:endParaRPr sz="1400">
              <a:solidFill>
                <a:schemeClr val="dk1"/>
              </a:solidFill>
              <a:latin typeface="IBM Plex Sans"/>
              <a:ea typeface="IBM Plex Sans"/>
              <a:cs typeface="IBM Plex Sans"/>
              <a:sym typeface="IBM Plex Sans"/>
            </a:endParaRPr>
          </a:p>
          <a:p>
            <a:pPr marL="285750" lvl="0" indent="-317500" algn="l" rtl="0">
              <a:spcBef>
                <a:spcPts val="0"/>
              </a:spcBef>
              <a:spcAft>
                <a:spcPts val="0"/>
              </a:spcAft>
              <a:buClr>
                <a:schemeClr val="dk1"/>
              </a:buClr>
              <a:buSzPts val="1400"/>
              <a:buFont typeface="IBM Plex Sans"/>
              <a:buChar char="●"/>
            </a:pPr>
            <a:r>
              <a:rPr lang="en" sz="1400">
                <a:solidFill>
                  <a:schemeClr val="dk1"/>
                </a:solidFill>
                <a:latin typeface="IBM Plex Sans"/>
                <a:ea typeface="IBM Plex Sans"/>
                <a:cs typeface="IBM Plex Sans"/>
                <a:sym typeface="IBM Plex Sans"/>
              </a:rPr>
              <a:t>Monthly Subscription</a:t>
            </a:r>
            <a:endParaRPr sz="1400">
              <a:solidFill>
                <a:schemeClr val="dk1"/>
              </a:solidFill>
              <a:latin typeface="IBM Plex Sans"/>
              <a:ea typeface="IBM Plex Sans"/>
              <a:cs typeface="IBM Plex Sans"/>
              <a:sym typeface="IBM Plex Sans"/>
            </a:endParaRPr>
          </a:p>
        </p:txBody>
      </p:sp>
      <p:sp>
        <p:nvSpPr>
          <p:cNvPr id="260" name="Google Shape;260;p30"/>
          <p:cNvSpPr txBox="1">
            <a:spLocks noGrp="1"/>
          </p:cNvSpPr>
          <p:nvPr>
            <p:ph type="body" idx="1"/>
          </p:nvPr>
        </p:nvSpPr>
        <p:spPr>
          <a:xfrm>
            <a:off x="3387825" y="3202725"/>
            <a:ext cx="2457000" cy="1443900"/>
          </a:xfrm>
          <a:prstGeom prst="rect">
            <a:avLst/>
          </a:prstGeom>
        </p:spPr>
        <p:txBody>
          <a:bodyPr spcFirstLastPara="1" wrap="square" lIns="91425" tIns="91425" rIns="91425" bIns="91425" anchor="t" anchorCtr="0">
            <a:noAutofit/>
          </a:bodyPr>
          <a:lstStyle/>
          <a:p>
            <a:pPr marL="285750" lvl="0" indent="-317500" algn="l" rtl="0">
              <a:spcBef>
                <a:spcPts val="0"/>
              </a:spcBef>
              <a:spcAft>
                <a:spcPts val="0"/>
              </a:spcAft>
              <a:buClr>
                <a:schemeClr val="dk1"/>
              </a:buClr>
              <a:buSzPts val="1400"/>
              <a:buFont typeface="IBM Plex Sans"/>
              <a:buChar char="●"/>
            </a:pPr>
            <a:r>
              <a:rPr lang="en" sz="1400">
                <a:solidFill>
                  <a:schemeClr val="dk1"/>
                </a:solidFill>
                <a:latin typeface="IBM Plex Sans"/>
                <a:ea typeface="IBM Plex Sans"/>
                <a:cs typeface="IBM Plex Sans"/>
                <a:sym typeface="IBM Plex Sans"/>
              </a:rPr>
              <a:t>Websites </a:t>
            </a:r>
            <a:endParaRPr sz="1400">
              <a:solidFill>
                <a:schemeClr val="dk1"/>
              </a:solidFill>
              <a:latin typeface="IBM Plex Sans"/>
              <a:ea typeface="IBM Plex Sans"/>
              <a:cs typeface="IBM Plex Sans"/>
              <a:sym typeface="IBM Plex Sans"/>
            </a:endParaRPr>
          </a:p>
          <a:p>
            <a:pPr marL="285750" lvl="0" indent="-317500" algn="l" rtl="0">
              <a:spcBef>
                <a:spcPts val="0"/>
              </a:spcBef>
              <a:spcAft>
                <a:spcPts val="0"/>
              </a:spcAft>
              <a:buClr>
                <a:schemeClr val="dk1"/>
              </a:buClr>
              <a:buSzPts val="1400"/>
              <a:buFont typeface="IBM Plex Sans"/>
              <a:buChar char="●"/>
            </a:pPr>
            <a:r>
              <a:rPr lang="en" sz="1400">
                <a:solidFill>
                  <a:schemeClr val="dk1"/>
                </a:solidFill>
                <a:latin typeface="IBM Plex Sans"/>
                <a:ea typeface="IBM Plex Sans"/>
                <a:cs typeface="IBM Plex Sans"/>
                <a:sym typeface="IBM Plex Sans"/>
              </a:rPr>
              <a:t>Retail Showroom</a:t>
            </a:r>
            <a:endParaRPr sz="1400">
              <a:solidFill>
                <a:schemeClr val="dk1"/>
              </a:solidFill>
              <a:latin typeface="IBM Plex Sans"/>
              <a:ea typeface="IBM Plex Sans"/>
              <a:cs typeface="IBM Plex Sans"/>
              <a:sym typeface="IBM Plex Sans"/>
            </a:endParaRPr>
          </a:p>
          <a:p>
            <a:pPr marL="285750" lvl="0" indent="-317500" algn="l" rtl="0">
              <a:spcBef>
                <a:spcPts val="0"/>
              </a:spcBef>
              <a:spcAft>
                <a:spcPts val="0"/>
              </a:spcAft>
              <a:buClr>
                <a:schemeClr val="dk1"/>
              </a:buClr>
              <a:buSzPts val="1400"/>
              <a:buFont typeface="IBM Plex Sans"/>
              <a:buChar char="●"/>
            </a:pPr>
            <a:r>
              <a:rPr lang="en" sz="1400">
                <a:solidFill>
                  <a:schemeClr val="dk1"/>
                </a:solidFill>
                <a:latin typeface="IBM Plex Sans"/>
                <a:ea typeface="IBM Plex Sans"/>
                <a:cs typeface="IBM Plex Sans"/>
                <a:sym typeface="IBM Plex Sans"/>
              </a:rPr>
              <a:t>At partner stores (Lululemon)</a:t>
            </a:r>
            <a:endParaRPr sz="1400">
              <a:solidFill>
                <a:schemeClr val="dk1"/>
              </a:solidFill>
              <a:latin typeface="IBM Plex Sans"/>
              <a:ea typeface="IBM Plex Sans"/>
              <a:cs typeface="IBM Plex Sans"/>
              <a:sym typeface="IBM Plex Sans"/>
            </a:endParaRPr>
          </a:p>
        </p:txBody>
      </p:sp>
      <p:sp>
        <p:nvSpPr>
          <p:cNvPr id="261" name="Google Shape;261;p30"/>
          <p:cNvSpPr txBox="1">
            <a:spLocks noGrp="1"/>
          </p:cNvSpPr>
          <p:nvPr>
            <p:ph type="body" idx="1"/>
          </p:nvPr>
        </p:nvSpPr>
        <p:spPr>
          <a:xfrm>
            <a:off x="3311625" y="673900"/>
            <a:ext cx="2350500" cy="1443900"/>
          </a:xfrm>
          <a:prstGeom prst="rect">
            <a:avLst/>
          </a:prstGeom>
        </p:spPr>
        <p:txBody>
          <a:bodyPr spcFirstLastPara="1" wrap="square" lIns="91425" tIns="91425" rIns="91425" bIns="91425" anchor="t" anchorCtr="0">
            <a:noAutofit/>
          </a:bodyPr>
          <a:lstStyle/>
          <a:p>
            <a:pPr marL="285750" lvl="0" indent="-320040" algn="l" rtl="0">
              <a:lnSpc>
                <a:spcPct val="100000"/>
              </a:lnSpc>
              <a:spcBef>
                <a:spcPts val="0"/>
              </a:spcBef>
              <a:spcAft>
                <a:spcPts val="0"/>
              </a:spcAft>
              <a:buClr>
                <a:schemeClr val="dk1"/>
              </a:buClr>
              <a:buSzPts val="1440"/>
              <a:buFont typeface="IBM Plex Sans"/>
              <a:buChar char="●"/>
            </a:pPr>
            <a:r>
              <a:rPr lang="en" sz="1440">
                <a:solidFill>
                  <a:schemeClr val="dk1"/>
                </a:solidFill>
                <a:latin typeface="IBM Plex Sans"/>
                <a:ea typeface="IBM Plex Sans"/>
                <a:cs typeface="IBM Plex Sans"/>
                <a:sym typeface="IBM Plex Sans"/>
              </a:rPr>
              <a:t>Stationary Bikes </a:t>
            </a:r>
            <a:endParaRPr sz="1440">
              <a:solidFill>
                <a:schemeClr val="dk1"/>
              </a:solidFill>
              <a:latin typeface="IBM Plex Sans"/>
              <a:ea typeface="IBM Plex Sans"/>
              <a:cs typeface="IBM Plex Sans"/>
              <a:sym typeface="IBM Plex Sans"/>
            </a:endParaRPr>
          </a:p>
          <a:p>
            <a:pPr marL="285750" lvl="0" indent="-320040" algn="l" rtl="0">
              <a:lnSpc>
                <a:spcPct val="100000"/>
              </a:lnSpc>
              <a:spcBef>
                <a:spcPts val="0"/>
              </a:spcBef>
              <a:spcAft>
                <a:spcPts val="0"/>
              </a:spcAft>
              <a:buClr>
                <a:schemeClr val="dk1"/>
              </a:buClr>
              <a:buSzPts val="1440"/>
              <a:buFont typeface="IBM Plex Sans"/>
              <a:buChar char="●"/>
            </a:pPr>
            <a:r>
              <a:rPr lang="en" sz="1440">
                <a:solidFill>
                  <a:schemeClr val="dk1"/>
                </a:solidFill>
                <a:latin typeface="IBM Plex Sans"/>
                <a:ea typeface="IBM Plex Sans"/>
                <a:cs typeface="IBM Plex Sans"/>
                <a:sym typeface="IBM Plex Sans"/>
              </a:rPr>
              <a:t>Treadmills </a:t>
            </a:r>
            <a:endParaRPr sz="1440">
              <a:solidFill>
                <a:schemeClr val="dk1"/>
              </a:solidFill>
              <a:latin typeface="IBM Plex Sans"/>
              <a:ea typeface="IBM Plex Sans"/>
              <a:cs typeface="IBM Plex Sans"/>
              <a:sym typeface="IBM Plex Sans"/>
            </a:endParaRPr>
          </a:p>
          <a:p>
            <a:pPr marL="285750" lvl="0" indent="-320040" algn="l" rtl="0">
              <a:lnSpc>
                <a:spcPct val="100000"/>
              </a:lnSpc>
              <a:spcBef>
                <a:spcPts val="0"/>
              </a:spcBef>
              <a:spcAft>
                <a:spcPts val="0"/>
              </a:spcAft>
              <a:buClr>
                <a:schemeClr val="dk1"/>
              </a:buClr>
              <a:buSzPts val="1440"/>
              <a:buFont typeface="IBM Plex Sans"/>
              <a:buChar char="●"/>
            </a:pPr>
            <a:r>
              <a:rPr lang="en" sz="1440">
                <a:solidFill>
                  <a:schemeClr val="dk1"/>
                </a:solidFill>
                <a:latin typeface="IBM Plex Sans"/>
                <a:ea typeface="IBM Plex Sans"/>
                <a:cs typeface="IBM Plex Sans"/>
                <a:sym typeface="IBM Plex Sans"/>
              </a:rPr>
              <a:t>Accessories </a:t>
            </a:r>
            <a:endParaRPr sz="1440">
              <a:solidFill>
                <a:schemeClr val="dk1"/>
              </a:solidFill>
              <a:latin typeface="IBM Plex Sans"/>
              <a:ea typeface="IBM Plex Sans"/>
              <a:cs typeface="IBM Plex Sans"/>
              <a:sym typeface="IBM Plex Sans"/>
            </a:endParaRPr>
          </a:p>
          <a:p>
            <a:pPr marL="285750" lvl="0" indent="-320040" algn="l" rtl="0">
              <a:lnSpc>
                <a:spcPct val="100000"/>
              </a:lnSpc>
              <a:spcBef>
                <a:spcPts val="0"/>
              </a:spcBef>
              <a:spcAft>
                <a:spcPts val="0"/>
              </a:spcAft>
              <a:buClr>
                <a:schemeClr val="dk1"/>
              </a:buClr>
              <a:buSzPts val="1440"/>
              <a:buFont typeface="IBM Plex Sans"/>
              <a:buChar char="●"/>
            </a:pPr>
            <a:r>
              <a:rPr lang="en" sz="1440">
                <a:solidFill>
                  <a:schemeClr val="dk1"/>
                </a:solidFill>
                <a:latin typeface="IBM Plex Sans"/>
                <a:ea typeface="IBM Plex Sans"/>
                <a:cs typeface="IBM Plex Sans"/>
                <a:sym typeface="IBM Plex Sans"/>
              </a:rPr>
              <a:t>On-demand classes</a:t>
            </a:r>
            <a:endParaRPr sz="1440">
              <a:solidFill>
                <a:schemeClr val="dk1"/>
              </a:solidFill>
              <a:latin typeface="IBM Plex Sans"/>
              <a:ea typeface="IBM Plex Sans"/>
              <a:cs typeface="IBM Plex Sans"/>
              <a:sym typeface="IBM Plex Sans"/>
            </a:endParaRPr>
          </a:p>
          <a:p>
            <a:pPr marL="285750" lvl="0" indent="-320040" algn="l" rtl="0">
              <a:lnSpc>
                <a:spcPct val="100000"/>
              </a:lnSpc>
              <a:spcBef>
                <a:spcPts val="0"/>
              </a:spcBef>
              <a:spcAft>
                <a:spcPts val="0"/>
              </a:spcAft>
              <a:buClr>
                <a:schemeClr val="dk1"/>
              </a:buClr>
              <a:buSzPts val="1440"/>
              <a:buFont typeface="IBM Plex Sans"/>
              <a:buChar char="●"/>
            </a:pPr>
            <a:r>
              <a:rPr lang="en" sz="1440">
                <a:solidFill>
                  <a:schemeClr val="dk1"/>
                </a:solidFill>
                <a:latin typeface="IBM Plex Sans"/>
                <a:ea typeface="IBM Plex Sans"/>
                <a:cs typeface="IBM Plex Sans"/>
                <a:sym typeface="IBM Plex Sans"/>
              </a:rPr>
              <a:t>Immersive Experience</a:t>
            </a:r>
            <a:endParaRPr sz="1440">
              <a:solidFill>
                <a:schemeClr val="dk1"/>
              </a:solidFill>
              <a:latin typeface="IBM Plex Sans"/>
              <a:ea typeface="IBM Plex Sans"/>
              <a:cs typeface="IBM Plex Sans"/>
              <a:sym typeface="IBM Plex Sans"/>
            </a:endParaRPr>
          </a:p>
          <a:p>
            <a:pPr marL="285750" lvl="0" indent="-320040" algn="l" rtl="0">
              <a:lnSpc>
                <a:spcPct val="100000"/>
              </a:lnSpc>
              <a:spcBef>
                <a:spcPts val="0"/>
              </a:spcBef>
              <a:spcAft>
                <a:spcPts val="0"/>
              </a:spcAft>
              <a:buClr>
                <a:schemeClr val="dk1"/>
              </a:buClr>
              <a:buSzPts val="1440"/>
              <a:buFont typeface="IBM Plex Sans"/>
              <a:buChar char="●"/>
            </a:pPr>
            <a:r>
              <a:rPr lang="en" sz="1440">
                <a:solidFill>
                  <a:schemeClr val="dk1"/>
                </a:solidFill>
                <a:latin typeface="IBM Plex Sans"/>
                <a:ea typeface="IBM Plex Sans"/>
                <a:cs typeface="IBM Plex Sans"/>
                <a:sym typeface="IBM Plex Sans"/>
              </a:rPr>
              <a:t>Fitness community  </a:t>
            </a:r>
            <a:endParaRPr sz="1440">
              <a:solidFill>
                <a:schemeClr val="dk1"/>
              </a:solidFill>
              <a:latin typeface="IBM Plex Sans"/>
              <a:ea typeface="IBM Plex Sans"/>
              <a:cs typeface="IBM Plex Sans"/>
              <a:sym typeface="IBM Plex Sans"/>
            </a:endParaRPr>
          </a:p>
        </p:txBody>
      </p:sp>
      <p:sp>
        <p:nvSpPr>
          <p:cNvPr id="262" name="Google Shape;262;p30"/>
          <p:cNvSpPr txBox="1">
            <a:spLocks noGrp="1"/>
          </p:cNvSpPr>
          <p:nvPr>
            <p:ph type="title"/>
          </p:nvPr>
        </p:nvSpPr>
        <p:spPr>
          <a:xfrm>
            <a:off x="3760900" y="134875"/>
            <a:ext cx="13731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latin typeface="IBM Plex Sans"/>
                <a:ea typeface="IBM Plex Sans"/>
                <a:cs typeface="IBM Plex Sans"/>
                <a:sym typeface="IBM Plex Sans"/>
              </a:rPr>
              <a:t>Product</a:t>
            </a:r>
            <a:endParaRPr b="1">
              <a:latin typeface="IBM Plex Sans"/>
              <a:ea typeface="IBM Plex Sans"/>
              <a:cs typeface="IBM Plex Sans"/>
              <a:sym typeface="IBM Plex Sans"/>
            </a:endParaRPr>
          </a:p>
        </p:txBody>
      </p:sp>
      <p:sp>
        <p:nvSpPr>
          <p:cNvPr id="263" name="Google Shape;263;p30"/>
          <p:cNvSpPr txBox="1">
            <a:spLocks noGrp="1"/>
          </p:cNvSpPr>
          <p:nvPr>
            <p:ph type="title"/>
          </p:nvPr>
        </p:nvSpPr>
        <p:spPr>
          <a:xfrm>
            <a:off x="1224850" y="1471475"/>
            <a:ext cx="1791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latin typeface="IBM Plex Sans"/>
                <a:ea typeface="IBM Plex Sans"/>
                <a:cs typeface="IBM Plex Sans"/>
                <a:sym typeface="IBM Plex Sans"/>
              </a:rPr>
              <a:t>Promotion</a:t>
            </a:r>
            <a:endParaRPr b="1">
              <a:latin typeface="IBM Plex Sans"/>
              <a:ea typeface="IBM Plex Sans"/>
              <a:cs typeface="IBM Plex Sans"/>
              <a:sym typeface="IBM Plex Sans"/>
            </a:endParaRPr>
          </a:p>
        </p:txBody>
      </p:sp>
      <p:sp>
        <p:nvSpPr>
          <p:cNvPr id="264" name="Google Shape;264;p30"/>
          <p:cNvSpPr txBox="1">
            <a:spLocks noGrp="1"/>
          </p:cNvSpPr>
          <p:nvPr>
            <p:ph type="title"/>
          </p:nvPr>
        </p:nvSpPr>
        <p:spPr>
          <a:xfrm>
            <a:off x="3703100" y="2722975"/>
            <a:ext cx="13731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IBM Plex Sans"/>
                <a:ea typeface="IBM Plex Sans"/>
                <a:cs typeface="IBM Plex Sans"/>
                <a:sym typeface="IBM Plex Sans"/>
              </a:rPr>
              <a:t>Place</a:t>
            </a:r>
            <a:endParaRPr b="1">
              <a:latin typeface="IBM Plex Sans"/>
              <a:ea typeface="IBM Plex Sans"/>
              <a:cs typeface="IBM Plex Sans"/>
              <a:sym typeface="IBM Plex Sans"/>
            </a:endParaRPr>
          </a:p>
        </p:txBody>
      </p:sp>
      <p:sp>
        <p:nvSpPr>
          <p:cNvPr id="265" name="Google Shape;265;p30"/>
          <p:cNvSpPr txBox="1">
            <a:spLocks noGrp="1"/>
          </p:cNvSpPr>
          <p:nvPr>
            <p:ph type="title"/>
          </p:nvPr>
        </p:nvSpPr>
        <p:spPr>
          <a:xfrm>
            <a:off x="6016750" y="1471475"/>
            <a:ext cx="13731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a:latin typeface="IBM Plex Sans"/>
                <a:ea typeface="IBM Plex Sans"/>
                <a:cs typeface="IBM Plex Sans"/>
                <a:sym typeface="IBM Plex Sans"/>
              </a:rPr>
              <a:t>Price</a:t>
            </a:r>
            <a:endParaRPr b="1">
              <a:latin typeface="IBM Plex Sans"/>
              <a:ea typeface="IBM Plex Sans"/>
              <a:cs typeface="IBM Plex Sans"/>
              <a:sym typeface="IBM Plex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69"/>
        <p:cNvGrpSpPr/>
        <p:nvPr/>
      </p:nvGrpSpPr>
      <p:grpSpPr>
        <a:xfrm>
          <a:off x="0" y="0"/>
          <a:ext cx="0" cy="0"/>
          <a:chOff x="0" y="0"/>
          <a:chExt cx="0" cy="0"/>
        </a:xfrm>
      </p:grpSpPr>
      <p:sp>
        <p:nvSpPr>
          <p:cNvPr id="270" name="Google Shape;270;p31"/>
          <p:cNvSpPr/>
          <p:nvPr/>
        </p:nvSpPr>
        <p:spPr>
          <a:xfrm>
            <a:off x="4876450" y="1773250"/>
            <a:ext cx="3620436" cy="1789626"/>
          </a:xfrm>
          <a:prstGeom prst="snip1Rect">
            <a:avLst>
              <a:gd name="adj"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1"/>
          <p:cNvSpPr/>
          <p:nvPr/>
        </p:nvSpPr>
        <p:spPr>
          <a:xfrm>
            <a:off x="515825" y="1773250"/>
            <a:ext cx="3467400" cy="1775307"/>
          </a:xfrm>
          <a:prstGeom prst="snip1Rect">
            <a:avLst>
              <a:gd name="adj"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1"/>
          <p:cNvSpPr txBox="1"/>
          <p:nvPr/>
        </p:nvSpPr>
        <p:spPr>
          <a:xfrm>
            <a:off x="515825" y="1238468"/>
            <a:ext cx="3467400" cy="431100"/>
          </a:xfrm>
          <a:prstGeom prst="rect">
            <a:avLst/>
          </a:prstGeom>
          <a:solidFill>
            <a:srgbClr val="D2002F"/>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dirty="0">
                <a:solidFill>
                  <a:schemeClr val="lt1"/>
                </a:solidFill>
                <a:latin typeface="IBM Plex Sans"/>
                <a:ea typeface="IBM Plex Sans"/>
                <a:cs typeface="IBM Plex Sans"/>
                <a:sym typeface="IBM Plex Sans"/>
              </a:rPr>
              <a:t>Non - Financial Metrics</a:t>
            </a:r>
            <a:endParaRPr sz="1600" b="1" dirty="0">
              <a:solidFill>
                <a:schemeClr val="lt1"/>
              </a:solidFill>
              <a:latin typeface="IBM Plex Sans"/>
              <a:ea typeface="IBM Plex Sans"/>
              <a:cs typeface="IBM Plex Sans"/>
              <a:sym typeface="IBM Plex Sans"/>
            </a:endParaRPr>
          </a:p>
        </p:txBody>
      </p:sp>
      <p:sp>
        <p:nvSpPr>
          <p:cNvPr id="273" name="Google Shape;273;p31"/>
          <p:cNvSpPr/>
          <p:nvPr/>
        </p:nvSpPr>
        <p:spPr>
          <a:xfrm>
            <a:off x="515825" y="223075"/>
            <a:ext cx="29928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4" name="Google Shape;274;p31"/>
          <p:cNvPicPr preferRelativeResize="0"/>
          <p:nvPr/>
        </p:nvPicPr>
        <p:blipFill rotWithShape="1">
          <a:blip r:embed="rId3">
            <a:alphaModFix/>
          </a:blip>
          <a:srcRect r="75266" b="15604"/>
          <a:stretch/>
        </p:blipFill>
        <p:spPr>
          <a:xfrm>
            <a:off x="311700" y="389125"/>
            <a:ext cx="2992924" cy="685600"/>
          </a:xfrm>
          <a:prstGeom prst="rect">
            <a:avLst/>
          </a:prstGeom>
          <a:noFill/>
          <a:ln>
            <a:noFill/>
          </a:ln>
        </p:spPr>
      </p:pic>
      <p:sp>
        <p:nvSpPr>
          <p:cNvPr id="275" name="Google Shape;275;p31"/>
          <p:cNvSpPr txBox="1">
            <a:spLocks noGrp="1"/>
          </p:cNvSpPr>
          <p:nvPr>
            <p:ph type="title"/>
          </p:nvPr>
        </p:nvSpPr>
        <p:spPr>
          <a:xfrm>
            <a:off x="515825" y="445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Success Metrics</a:t>
            </a:r>
            <a:endParaRPr b="1">
              <a:solidFill>
                <a:schemeClr val="lt1"/>
              </a:solidFill>
              <a:latin typeface="IBM Plex Sans"/>
              <a:ea typeface="IBM Plex Sans"/>
              <a:cs typeface="IBM Plex Sans"/>
              <a:sym typeface="IBM Plex Sans"/>
            </a:endParaRPr>
          </a:p>
        </p:txBody>
      </p:sp>
      <p:sp>
        <p:nvSpPr>
          <p:cNvPr id="276" name="Google Shape;276;p31"/>
          <p:cNvSpPr txBox="1">
            <a:spLocks noGrp="1"/>
          </p:cNvSpPr>
          <p:nvPr>
            <p:ph type="body" idx="1"/>
          </p:nvPr>
        </p:nvSpPr>
        <p:spPr>
          <a:xfrm>
            <a:off x="5061675" y="1858526"/>
            <a:ext cx="3407986" cy="1704350"/>
          </a:xfrm>
          <a:prstGeom prst="rect">
            <a:avLst/>
          </a:prstGeom>
        </p:spPr>
        <p:txBody>
          <a:bodyPr spcFirstLastPara="1" wrap="square" lIns="91425" tIns="91425" rIns="91425" bIns="91425" anchor="t" anchorCtr="0">
            <a:normAutofit fontScale="92500" lnSpcReduction="20000"/>
          </a:bodyPr>
          <a:lstStyle/>
          <a:p>
            <a:pPr marL="285750" lvl="0" indent="-330200" algn="l" rtl="0">
              <a:spcBef>
                <a:spcPts val="0"/>
              </a:spcBef>
              <a:spcAft>
                <a:spcPts val="0"/>
              </a:spcAft>
              <a:buClr>
                <a:schemeClr val="dk1"/>
              </a:buClr>
              <a:buSzPts val="1600"/>
              <a:buFont typeface="IBM Plex Sans"/>
              <a:buChar char="●"/>
            </a:pPr>
            <a:r>
              <a:rPr lang="en" sz="1600" dirty="0">
                <a:solidFill>
                  <a:schemeClr val="dk1"/>
                </a:solidFill>
                <a:latin typeface="IBM Plex Sans"/>
                <a:ea typeface="IBM Plex Sans"/>
                <a:cs typeface="IBM Plex Sans"/>
                <a:sym typeface="IBM Plex Sans"/>
              </a:rPr>
              <a:t>Revenue per member </a:t>
            </a:r>
            <a:endParaRPr sz="1600" dirty="0">
              <a:solidFill>
                <a:schemeClr val="dk1"/>
              </a:solidFill>
              <a:latin typeface="IBM Plex Sans"/>
              <a:ea typeface="IBM Plex Sans"/>
              <a:cs typeface="IBM Plex Sans"/>
              <a:sym typeface="IBM Plex Sans"/>
            </a:endParaRPr>
          </a:p>
          <a:p>
            <a:pPr marL="285750" lvl="0" indent="-330200" algn="l" rtl="0">
              <a:spcBef>
                <a:spcPts val="0"/>
              </a:spcBef>
              <a:spcAft>
                <a:spcPts val="0"/>
              </a:spcAft>
              <a:buClr>
                <a:schemeClr val="dk1"/>
              </a:buClr>
              <a:buSzPts val="1600"/>
              <a:buFont typeface="IBM Plex Sans"/>
              <a:buChar char="●"/>
            </a:pPr>
            <a:r>
              <a:rPr lang="en" sz="1600" dirty="0">
                <a:solidFill>
                  <a:schemeClr val="dk1"/>
                </a:solidFill>
                <a:latin typeface="IBM Plex Sans"/>
                <a:ea typeface="IBM Plex Sans"/>
                <a:cs typeface="IBM Plex Sans"/>
                <a:sym typeface="IBM Plex Sans"/>
              </a:rPr>
              <a:t>Revenue per session</a:t>
            </a:r>
            <a:endParaRPr sz="1600" dirty="0">
              <a:solidFill>
                <a:schemeClr val="dk1"/>
              </a:solidFill>
              <a:latin typeface="IBM Plex Sans"/>
              <a:ea typeface="IBM Plex Sans"/>
              <a:cs typeface="IBM Plex Sans"/>
              <a:sym typeface="IBM Plex Sans"/>
            </a:endParaRPr>
          </a:p>
          <a:p>
            <a:pPr marL="285750" lvl="0" indent="-330200" algn="l" rtl="0">
              <a:spcBef>
                <a:spcPts val="0"/>
              </a:spcBef>
              <a:spcAft>
                <a:spcPts val="0"/>
              </a:spcAft>
              <a:buClr>
                <a:schemeClr val="dk1"/>
              </a:buClr>
              <a:buSzPts val="1600"/>
              <a:buFont typeface="IBM Plex Sans"/>
              <a:buChar char="●"/>
            </a:pPr>
            <a:r>
              <a:rPr lang="en" sz="1600" b="1" dirty="0">
                <a:solidFill>
                  <a:schemeClr val="dk1"/>
                </a:solidFill>
                <a:latin typeface="IBM Plex Sans"/>
                <a:ea typeface="IBM Plex Sans"/>
                <a:cs typeface="IBM Plex Sans"/>
                <a:sym typeface="IBM Plex Sans"/>
              </a:rPr>
              <a:t>Return over investment</a:t>
            </a:r>
            <a:endParaRPr sz="1600" b="1" dirty="0">
              <a:solidFill>
                <a:schemeClr val="dk1"/>
              </a:solidFill>
              <a:latin typeface="IBM Plex Sans"/>
              <a:ea typeface="IBM Plex Sans"/>
              <a:cs typeface="IBM Plex Sans"/>
              <a:sym typeface="IBM Plex Sans"/>
            </a:endParaRPr>
          </a:p>
          <a:p>
            <a:pPr marL="285750" lvl="0" indent="-330200" algn="l" rtl="0">
              <a:spcBef>
                <a:spcPts val="0"/>
              </a:spcBef>
              <a:spcAft>
                <a:spcPts val="0"/>
              </a:spcAft>
              <a:buClr>
                <a:schemeClr val="dk1"/>
              </a:buClr>
              <a:buSzPts val="1600"/>
              <a:buFont typeface="IBM Plex Sans"/>
              <a:buChar char="●"/>
            </a:pPr>
            <a:r>
              <a:rPr lang="en" sz="1600" dirty="0">
                <a:solidFill>
                  <a:schemeClr val="dk1"/>
                </a:solidFill>
                <a:latin typeface="IBM Plex Sans"/>
                <a:ea typeface="IBM Plex Sans"/>
                <a:cs typeface="IBM Plex Sans"/>
                <a:sym typeface="IBM Plex Sans"/>
              </a:rPr>
              <a:t>Additional service revenue per customer</a:t>
            </a:r>
            <a:endParaRPr sz="1600" dirty="0">
              <a:solidFill>
                <a:schemeClr val="dk1"/>
              </a:solidFill>
              <a:latin typeface="IBM Plex Sans"/>
              <a:ea typeface="IBM Plex Sans"/>
              <a:cs typeface="IBM Plex Sans"/>
              <a:sym typeface="IBM Plex Sans"/>
            </a:endParaRPr>
          </a:p>
          <a:p>
            <a:pPr marL="285750" lvl="0" indent="-330200" algn="l" rtl="0">
              <a:spcBef>
                <a:spcPts val="0"/>
              </a:spcBef>
              <a:spcAft>
                <a:spcPts val="0"/>
              </a:spcAft>
              <a:buClr>
                <a:schemeClr val="dk1"/>
              </a:buClr>
              <a:buSzPts val="1600"/>
              <a:buFont typeface="IBM Plex Sans"/>
              <a:buChar char="●"/>
            </a:pPr>
            <a:r>
              <a:rPr lang="en" sz="1600" dirty="0">
                <a:solidFill>
                  <a:schemeClr val="dk1"/>
                </a:solidFill>
                <a:latin typeface="IBM Plex Sans"/>
                <a:ea typeface="IBM Plex Sans"/>
                <a:cs typeface="IBM Plex Sans"/>
                <a:sym typeface="IBM Plex Sans"/>
              </a:rPr>
              <a:t>Conversion rate</a:t>
            </a:r>
            <a:endParaRPr sz="1600" dirty="0">
              <a:solidFill>
                <a:schemeClr val="dk1"/>
              </a:solidFill>
              <a:latin typeface="IBM Plex Sans"/>
              <a:ea typeface="IBM Plex Sans"/>
              <a:cs typeface="IBM Plex Sans"/>
              <a:sym typeface="IBM Plex Sans"/>
            </a:endParaRPr>
          </a:p>
          <a:p>
            <a:pPr marL="285750" lvl="0" indent="-330200" algn="l" rtl="0">
              <a:spcBef>
                <a:spcPts val="0"/>
              </a:spcBef>
              <a:spcAft>
                <a:spcPts val="0"/>
              </a:spcAft>
              <a:buClr>
                <a:schemeClr val="dk1"/>
              </a:buClr>
              <a:buSzPts val="1600"/>
              <a:buFont typeface="IBM Plex Sans"/>
              <a:buChar char="●"/>
            </a:pPr>
            <a:r>
              <a:rPr lang="en" sz="1600" b="1" dirty="0">
                <a:solidFill>
                  <a:schemeClr val="dk1"/>
                </a:solidFill>
                <a:latin typeface="IBM Plex Sans"/>
                <a:ea typeface="IBM Plex Sans"/>
                <a:cs typeface="IBM Plex Sans"/>
                <a:sym typeface="IBM Plex Sans"/>
              </a:rPr>
              <a:t>Market share </a:t>
            </a:r>
            <a:r>
              <a:rPr lang="en" sz="1300" dirty="0">
                <a:solidFill>
                  <a:schemeClr val="dk1"/>
                </a:solidFill>
                <a:latin typeface="IBM Plex Sans"/>
                <a:ea typeface="IBM Plex Sans"/>
                <a:cs typeface="IBM Plex Sans"/>
                <a:sym typeface="IBM Plex Sans"/>
              </a:rPr>
              <a:t>(for subscriptions)</a:t>
            </a:r>
            <a:endParaRPr sz="1500" b="1" dirty="0">
              <a:solidFill>
                <a:schemeClr val="dk1"/>
              </a:solidFill>
              <a:latin typeface="IBM Plex Sans"/>
              <a:ea typeface="IBM Plex Sans"/>
              <a:cs typeface="IBM Plex Sans"/>
              <a:sym typeface="IBM Plex Sans"/>
            </a:endParaRPr>
          </a:p>
        </p:txBody>
      </p:sp>
      <p:sp>
        <p:nvSpPr>
          <p:cNvPr id="277" name="Google Shape;277;p31"/>
          <p:cNvSpPr txBox="1">
            <a:spLocks noGrp="1"/>
          </p:cNvSpPr>
          <p:nvPr>
            <p:ph type="body" idx="1"/>
          </p:nvPr>
        </p:nvSpPr>
        <p:spPr>
          <a:xfrm>
            <a:off x="674339" y="1820685"/>
            <a:ext cx="3320999" cy="1698715"/>
          </a:xfrm>
          <a:prstGeom prst="rect">
            <a:avLst/>
          </a:prstGeom>
        </p:spPr>
        <p:txBody>
          <a:bodyPr spcFirstLastPara="1" wrap="square" lIns="91425" tIns="91425" rIns="91425" bIns="91425" anchor="t" anchorCtr="0">
            <a:normAutofit/>
          </a:bodyPr>
          <a:lstStyle/>
          <a:p>
            <a:pPr marL="114300" lvl="0" indent="-336550" algn="l" rtl="0">
              <a:spcBef>
                <a:spcPts val="0"/>
              </a:spcBef>
              <a:spcAft>
                <a:spcPts val="0"/>
              </a:spcAft>
              <a:buClr>
                <a:schemeClr val="dk1"/>
              </a:buClr>
              <a:buSzPts val="1700"/>
              <a:buFont typeface="IBM Plex Sans"/>
              <a:buChar char="●"/>
            </a:pPr>
            <a:r>
              <a:rPr lang="en" sz="1700" dirty="0">
                <a:solidFill>
                  <a:schemeClr val="dk1"/>
                </a:solidFill>
                <a:latin typeface="IBM Plex Sans"/>
                <a:ea typeface="IBM Plex Sans"/>
                <a:cs typeface="IBM Plex Sans"/>
                <a:sym typeface="IBM Plex Sans"/>
              </a:rPr>
              <a:t>Net Promoter Score </a:t>
            </a:r>
            <a:endParaRPr sz="1700" dirty="0">
              <a:solidFill>
                <a:schemeClr val="dk1"/>
              </a:solidFill>
              <a:latin typeface="IBM Plex Sans"/>
              <a:ea typeface="IBM Plex Sans"/>
              <a:cs typeface="IBM Plex Sans"/>
              <a:sym typeface="IBM Plex Sans"/>
            </a:endParaRPr>
          </a:p>
          <a:p>
            <a:pPr marL="114300" lvl="0" indent="-336550" algn="l" rtl="0">
              <a:spcBef>
                <a:spcPts val="0"/>
              </a:spcBef>
              <a:spcAft>
                <a:spcPts val="0"/>
              </a:spcAft>
              <a:buClr>
                <a:schemeClr val="dk1"/>
              </a:buClr>
              <a:buSzPts val="1700"/>
              <a:buFont typeface="IBM Plex Sans"/>
              <a:buChar char="●"/>
            </a:pPr>
            <a:r>
              <a:rPr lang="en" sz="1700" dirty="0">
                <a:solidFill>
                  <a:schemeClr val="dk1"/>
                </a:solidFill>
                <a:latin typeface="IBM Plex Sans"/>
                <a:ea typeface="IBM Plex Sans"/>
                <a:cs typeface="IBM Plex Sans"/>
                <a:sym typeface="IBM Plex Sans"/>
              </a:rPr>
              <a:t>Customer Engagement</a:t>
            </a:r>
            <a:endParaRPr sz="1700" dirty="0">
              <a:solidFill>
                <a:schemeClr val="dk1"/>
              </a:solidFill>
              <a:latin typeface="IBM Plex Sans"/>
              <a:ea typeface="IBM Plex Sans"/>
              <a:cs typeface="IBM Plex Sans"/>
              <a:sym typeface="IBM Plex Sans"/>
            </a:endParaRPr>
          </a:p>
          <a:p>
            <a:pPr marL="114300" lvl="0" indent="-336550" algn="l" rtl="0">
              <a:spcBef>
                <a:spcPts val="0"/>
              </a:spcBef>
              <a:spcAft>
                <a:spcPts val="0"/>
              </a:spcAft>
              <a:buClr>
                <a:schemeClr val="dk1"/>
              </a:buClr>
              <a:buSzPts val="1700"/>
              <a:buFont typeface="IBM Plex Sans"/>
              <a:buChar char="●"/>
            </a:pPr>
            <a:r>
              <a:rPr lang="en" sz="1700" dirty="0">
                <a:solidFill>
                  <a:schemeClr val="dk1"/>
                </a:solidFill>
                <a:latin typeface="IBM Plex Sans"/>
                <a:ea typeface="IBM Plex Sans"/>
                <a:cs typeface="IBM Plex Sans"/>
                <a:sym typeface="IBM Plex Sans"/>
              </a:rPr>
              <a:t>Customer Experience</a:t>
            </a:r>
            <a:endParaRPr sz="1700" dirty="0">
              <a:solidFill>
                <a:schemeClr val="dk1"/>
              </a:solidFill>
              <a:latin typeface="IBM Plex Sans"/>
              <a:ea typeface="IBM Plex Sans"/>
              <a:cs typeface="IBM Plex Sans"/>
              <a:sym typeface="IBM Plex Sans"/>
            </a:endParaRPr>
          </a:p>
          <a:p>
            <a:pPr marL="114300" lvl="0" indent="-336550" algn="l" rtl="0">
              <a:spcBef>
                <a:spcPts val="0"/>
              </a:spcBef>
              <a:spcAft>
                <a:spcPts val="0"/>
              </a:spcAft>
              <a:buClr>
                <a:schemeClr val="dk1"/>
              </a:buClr>
              <a:buSzPts val="1700"/>
              <a:buFont typeface="IBM Plex Sans"/>
              <a:buChar char="●"/>
            </a:pPr>
            <a:r>
              <a:rPr lang="en" sz="1700" b="1" dirty="0">
                <a:solidFill>
                  <a:schemeClr val="dk1"/>
                </a:solidFill>
                <a:latin typeface="IBM Plex Sans"/>
                <a:ea typeface="IBM Plex Sans"/>
                <a:cs typeface="IBM Plex Sans"/>
                <a:sym typeface="IBM Plex Sans"/>
              </a:rPr>
              <a:t>Member retention</a:t>
            </a:r>
            <a:endParaRPr sz="1700" b="1" dirty="0">
              <a:solidFill>
                <a:schemeClr val="dk1"/>
              </a:solidFill>
              <a:latin typeface="IBM Plex Sans"/>
              <a:ea typeface="IBM Plex Sans"/>
              <a:cs typeface="IBM Plex Sans"/>
              <a:sym typeface="IBM Plex Sans"/>
            </a:endParaRPr>
          </a:p>
          <a:p>
            <a:pPr marL="114300" lvl="0" indent="-336550" algn="l" rtl="0">
              <a:spcBef>
                <a:spcPts val="0"/>
              </a:spcBef>
              <a:spcAft>
                <a:spcPts val="0"/>
              </a:spcAft>
              <a:buClr>
                <a:schemeClr val="dk1"/>
              </a:buClr>
              <a:buSzPts val="1700"/>
              <a:buFont typeface="IBM Plex Sans"/>
              <a:buChar char="●"/>
            </a:pPr>
            <a:r>
              <a:rPr lang="en" sz="1700" b="1" dirty="0">
                <a:solidFill>
                  <a:schemeClr val="dk1"/>
                </a:solidFill>
                <a:latin typeface="IBM Plex Sans"/>
                <a:ea typeface="IBM Plex Sans"/>
                <a:cs typeface="IBM Plex Sans"/>
                <a:sym typeface="IBM Plex Sans"/>
              </a:rPr>
              <a:t>Fun &amp; Behavioral</a:t>
            </a:r>
            <a:endParaRPr sz="1700" b="1" dirty="0">
              <a:solidFill>
                <a:schemeClr val="dk1"/>
              </a:solidFill>
              <a:latin typeface="IBM Plex Sans"/>
              <a:ea typeface="IBM Plex Sans"/>
              <a:cs typeface="IBM Plex Sans"/>
              <a:sym typeface="IBM Plex Sans"/>
            </a:endParaRPr>
          </a:p>
        </p:txBody>
      </p:sp>
      <p:sp>
        <p:nvSpPr>
          <p:cNvPr id="278" name="Google Shape;278;p31"/>
          <p:cNvSpPr txBox="1"/>
          <p:nvPr/>
        </p:nvSpPr>
        <p:spPr>
          <a:xfrm>
            <a:off x="4876275" y="1224150"/>
            <a:ext cx="3620611" cy="431100"/>
          </a:xfrm>
          <a:prstGeom prst="rect">
            <a:avLst/>
          </a:prstGeom>
          <a:solidFill>
            <a:srgbClr val="D2002F"/>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solidFill>
                  <a:schemeClr val="lt1"/>
                </a:solidFill>
                <a:latin typeface="IBM Plex Sans"/>
                <a:ea typeface="IBM Plex Sans"/>
                <a:cs typeface="IBM Plex Sans"/>
                <a:sym typeface="IBM Plex Sans"/>
              </a:rPr>
              <a:t>Financial Metrics</a:t>
            </a:r>
            <a:endParaRPr sz="1600" b="1">
              <a:solidFill>
                <a:schemeClr val="lt1"/>
              </a:solidFill>
              <a:latin typeface="IBM Plex Sans"/>
              <a:ea typeface="IBM Plex Sans"/>
              <a:cs typeface="IBM Plex Sans"/>
              <a:sym typeface="IBM Plex Sans"/>
            </a:endParaRPr>
          </a:p>
        </p:txBody>
      </p:sp>
      <p:pic>
        <p:nvPicPr>
          <p:cNvPr id="279" name="Google Shape;279;p3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sp>
        <p:nvSpPr>
          <p:cNvPr id="2" name="TextBox 1">
            <a:extLst>
              <a:ext uri="{FF2B5EF4-FFF2-40B4-BE49-F238E27FC236}">
                <a16:creationId xmlns:a16="http://schemas.microsoft.com/office/drawing/2014/main" id="{514FE416-2526-B58C-FFC7-FB9BBBDF2884}"/>
              </a:ext>
            </a:extLst>
          </p:cNvPr>
          <p:cNvSpPr txBox="1"/>
          <p:nvPr/>
        </p:nvSpPr>
        <p:spPr>
          <a:xfrm>
            <a:off x="515824" y="3905032"/>
            <a:ext cx="7981062"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solidFill>
                  <a:schemeClr val="tx1"/>
                </a:solidFill>
                <a:latin typeface="IBM Plex Sans" panose="020B0503050203000203" pitchFamily="34" charset="0"/>
              </a:rPr>
              <a:t>KEY TAKEAWAY: Financial and Non-Financial metrics are both important to the success of peloton.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83"/>
        <p:cNvGrpSpPr/>
        <p:nvPr/>
      </p:nvGrpSpPr>
      <p:grpSpPr>
        <a:xfrm>
          <a:off x="0" y="0"/>
          <a:ext cx="0" cy="0"/>
          <a:chOff x="0" y="0"/>
          <a:chExt cx="0" cy="0"/>
        </a:xfrm>
      </p:grpSpPr>
      <p:sp>
        <p:nvSpPr>
          <p:cNvPr id="284" name="Google Shape;284;p32"/>
          <p:cNvSpPr/>
          <p:nvPr/>
        </p:nvSpPr>
        <p:spPr>
          <a:xfrm>
            <a:off x="515825" y="223075"/>
            <a:ext cx="27468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5" name="Google Shape;285;p32"/>
          <p:cNvPicPr preferRelativeResize="0"/>
          <p:nvPr/>
        </p:nvPicPr>
        <p:blipFill rotWithShape="1">
          <a:blip r:embed="rId3">
            <a:alphaModFix/>
          </a:blip>
          <a:srcRect r="75266" b="15604"/>
          <a:stretch/>
        </p:blipFill>
        <p:spPr>
          <a:xfrm>
            <a:off x="311700" y="389125"/>
            <a:ext cx="2746850" cy="685600"/>
          </a:xfrm>
          <a:prstGeom prst="rect">
            <a:avLst/>
          </a:prstGeom>
          <a:noFill/>
          <a:ln>
            <a:noFill/>
          </a:ln>
        </p:spPr>
      </p:pic>
      <p:sp>
        <p:nvSpPr>
          <p:cNvPr id="286" name="Google Shape;286;p32"/>
          <p:cNvSpPr txBox="1">
            <a:spLocks noGrp="1"/>
          </p:cNvSpPr>
          <p:nvPr>
            <p:ph type="title"/>
          </p:nvPr>
        </p:nvSpPr>
        <p:spPr>
          <a:xfrm>
            <a:off x="515825" y="445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Risks Involved</a:t>
            </a:r>
            <a:endParaRPr b="1">
              <a:solidFill>
                <a:schemeClr val="lt1"/>
              </a:solidFill>
              <a:latin typeface="IBM Plex Sans"/>
              <a:ea typeface="IBM Plex Sans"/>
              <a:cs typeface="IBM Plex Sans"/>
              <a:sym typeface="IBM Plex Sans"/>
            </a:endParaRPr>
          </a:p>
        </p:txBody>
      </p:sp>
      <p:sp>
        <p:nvSpPr>
          <p:cNvPr id="287" name="Google Shape;287;p32"/>
          <p:cNvSpPr txBox="1">
            <a:spLocks noGrp="1"/>
          </p:cNvSpPr>
          <p:nvPr>
            <p:ph type="body" idx="1"/>
          </p:nvPr>
        </p:nvSpPr>
        <p:spPr>
          <a:xfrm>
            <a:off x="1000900" y="1420000"/>
            <a:ext cx="7269600" cy="3416400"/>
          </a:xfrm>
          <a:prstGeom prst="rect">
            <a:avLst/>
          </a:prstGeom>
        </p:spPr>
        <p:txBody>
          <a:bodyPr spcFirstLastPara="1" wrap="square" lIns="91425" tIns="91425" rIns="91425" bIns="91425" anchor="t" anchorCtr="0">
            <a:normAutofit/>
          </a:bodyPr>
          <a:lstStyle/>
          <a:p>
            <a:pPr marL="457200" lvl="0" indent="-342900" algn="l" rtl="0">
              <a:lnSpc>
                <a:spcPct val="150000"/>
              </a:lnSpc>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Resistance to Adoption of Peloton</a:t>
            </a:r>
            <a:endParaRPr>
              <a:solidFill>
                <a:schemeClr val="lt1"/>
              </a:solidFill>
              <a:latin typeface="IBM Plex Sans"/>
              <a:ea typeface="IBM Plex Sans"/>
              <a:cs typeface="IBM Plex Sans"/>
              <a:sym typeface="IBM Plex Sans"/>
            </a:endParaRPr>
          </a:p>
          <a:p>
            <a:pPr marL="457200" lvl="0" indent="-342900" algn="l" rtl="0">
              <a:lnSpc>
                <a:spcPct val="150000"/>
              </a:lnSpc>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Failed Partnerships </a:t>
            </a:r>
            <a:endParaRPr>
              <a:solidFill>
                <a:schemeClr val="lt1"/>
              </a:solidFill>
              <a:latin typeface="IBM Plex Sans"/>
              <a:ea typeface="IBM Plex Sans"/>
              <a:cs typeface="IBM Plex Sans"/>
              <a:sym typeface="IBM Plex Sans"/>
            </a:endParaRPr>
          </a:p>
          <a:p>
            <a:pPr marL="457200" lvl="0" indent="-342900" algn="l" rtl="0">
              <a:lnSpc>
                <a:spcPct val="150000"/>
              </a:lnSpc>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Risk of injury with new Product releases</a:t>
            </a:r>
            <a:endParaRPr>
              <a:solidFill>
                <a:schemeClr val="lt1"/>
              </a:solidFill>
              <a:latin typeface="IBM Plex Sans"/>
              <a:ea typeface="IBM Plex Sans"/>
              <a:cs typeface="IBM Plex Sans"/>
              <a:sym typeface="IBM Plex Sans"/>
            </a:endParaRPr>
          </a:p>
          <a:p>
            <a:pPr marL="457200" lvl="0" indent="-342900" algn="l" rtl="0">
              <a:lnSpc>
                <a:spcPct val="150000"/>
              </a:lnSpc>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Current inflation in the economy</a:t>
            </a:r>
            <a:endParaRPr>
              <a:solidFill>
                <a:schemeClr val="lt1"/>
              </a:solidFill>
              <a:latin typeface="IBM Plex Sans"/>
              <a:ea typeface="IBM Plex Sans"/>
              <a:cs typeface="IBM Plex Sans"/>
              <a:sym typeface="IBM Plex Sans"/>
            </a:endParaRPr>
          </a:p>
          <a:p>
            <a:pPr marL="457200" lvl="0" indent="-342900" algn="l" rtl="0">
              <a:lnSpc>
                <a:spcPct val="150000"/>
              </a:lnSpc>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Dislike in the gamification features </a:t>
            </a:r>
            <a:endParaRPr>
              <a:solidFill>
                <a:schemeClr val="lt1"/>
              </a:solidFill>
              <a:latin typeface="IBM Plex Sans"/>
              <a:ea typeface="IBM Plex Sans"/>
              <a:cs typeface="IBM Plex Sans"/>
              <a:sym typeface="IBM Plex Sans"/>
            </a:endParaRPr>
          </a:p>
          <a:p>
            <a:pPr marL="457200" lvl="0" indent="-342900" algn="l" rtl="0">
              <a:lnSpc>
                <a:spcPct val="150000"/>
              </a:lnSpc>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Unexpected product recalls </a:t>
            </a:r>
            <a:endParaRPr>
              <a:solidFill>
                <a:schemeClr val="lt1"/>
              </a:solidFill>
              <a:latin typeface="IBM Plex Sans"/>
              <a:ea typeface="IBM Plex Sans"/>
              <a:cs typeface="IBM Plex Sans"/>
              <a:sym typeface="IBM Plex Sans"/>
            </a:endParaRPr>
          </a:p>
        </p:txBody>
      </p:sp>
      <p:pic>
        <p:nvPicPr>
          <p:cNvPr id="288" name="Google Shape;288;p3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92"/>
        <p:cNvGrpSpPr/>
        <p:nvPr/>
      </p:nvGrpSpPr>
      <p:grpSpPr>
        <a:xfrm>
          <a:off x="0" y="0"/>
          <a:ext cx="0" cy="0"/>
          <a:chOff x="0" y="0"/>
          <a:chExt cx="0" cy="0"/>
        </a:xfrm>
      </p:grpSpPr>
      <p:sp>
        <p:nvSpPr>
          <p:cNvPr id="293" name="Google Shape;293;p33"/>
          <p:cNvSpPr/>
          <p:nvPr/>
        </p:nvSpPr>
        <p:spPr>
          <a:xfrm>
            <a:off x="515825" y="223075"/>
            <a:ext cx="22350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4" name="Google Shape;294;p33"/>
          <p:cNvPicPr preferRelativeResize="0"/>
          <p:nvPr/>
        </p:nvPicPr>
        <p:blipFill rotWithShape="1">
          <a:blip r:embed="rId3" cstate="email">
            <a:alphaModFix/>
            <a:extLst>
              <a:ext uri="{28A0092B-C50C-407E-A947-70E740481C1C}">
                <a14:useLocalDpi xmlns:a14="http://schemas.microsoft.com/office/drawing/2010/main"/>
              </a:ext>
            </a:extLst>
          </a:blip>
          <a:srcRect r="75266" b="15604"/>
          <a:stretch/>
        </p:blipFill>
        <p:spPr>
          <a:xfrm>
            <a:off x="311700" y="389125"/>
            <a:ext cx="2235025" cy="685600"/>
          </a:xfrm>
          <a:prstGeom prst="rect">
            <a:avLst/>
          </a:prstGeom>
          <a:noFill/>
          <a:ln>
            <a:noFill/>
          </a:ln>
        </p:spPr>
      </p:pic>
      <p:sp>
        <p:nvSpPr>
          <p:cNvPr id="295" name="Google Shape;295;p33"/>
          <p:cNvSpPr txBox="1">
            <a:spLocks noGrp="1"/>
          </p:cNvSpPr>
          <p:nvPr>
            <p:ph type="title"/>
          </p:nvPr>
        </p:nvSpPr>
        <p:spPr>
          <a:xfrm>
            <a:off x="515825" y="445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Conclusion</a:t>
            </a:r>
            <a:endParaRPr b="1">
              <a:solidFill>
                <a:schemeClr val="lt1"/>
              </a:solidFill>
              <a:latin typeface="IBM Plex Sans"/>
              <a:ea typeface="IBM Plex Sans"/>
              <a:cs typeface="IBM Plex Sans"/>
              <a:sym typeface="IBM Plex Sans"/>
            </a:endParaRPr>
          </a:p>
        </p:txBody>
      </p:sp>
      <p:pic>
        <p:nvPicPr>
          <p:cNvPr id="296" name="Google Shape;296;p3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sp>
        <p:nvSpPr>
          <p:cNvPr id="297" name="Google Shape;297;p33"/>
          <p:cNvSpPr txBox="1">
            <a:spLocks noGrp="1"/>
          </p:cNvSpPr>
          <p:nvPr>
            <p:ph type="body" idx="1"/>
          </p:nvPr>
        </p:nvSpPr>
        <p:spPr>
          <a:xfrm>
            <a:off x="347300" y="1321100"/>
            <a:ext cx="8558700" cy="3416400"/>
          </a:xfrm>
          <a:prstGeom prst="rect">
            <a:avLst/>
          </a:prstGeom>
        </p:spPr>
        <p:txBody>
          <a:bodyPr spcFirstLastPara="1" wrap="square" lIns="91425" tIns="91425" rIns="91425" bIns="91425" anchor="t" anchorCtr="0">
            <a:normAutofit/>
          </a:bodyPr>
          <a:lstStyle/>
          <a:p>
            <a:pPr marL="457200" lvl="0" indent="-342900" algn="l" rtl="0">
              <a:lnSpc>
                <a:spcPct val="150000"/>
              </a:lnSpc>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Investment in rebranding that address user needs and grievances </a:t>
            </a:r>
            <a:endParaRPr>
              <a:solidFill>
                <a:schemeClr val="lt1"/>
              </a:solidFill>
              <a:latin typeface="IBM Plex Sans"/>
              <a:ea typeface="IBM Plex Sans"/>
              <a:cs typeface="IBM Plex Sans"/>
              <a:sym typeface="IBM Plex Sans"/>
            </a:endParaRPr>
          </a:p>
          <a:p>
            <a:pPr marL="457200" lvl="0" indent="-342900" algn="l" rtl="0">
              <a:lnSpc>
                <a:spcPct val="150000"/>
              </a:lnSpc>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Build Peloton Studios</a:t>
            </a:r>
            <a:endParaRPr>
              <a:solidFill>
                <a:schemeClr val="lt1"/>
              </a:solidFill>
              <a:latin typeface="IBM Plex Sans"/>
              <a:ea typeface="IBM Plex Sans"/>
              <a:cs typeface="IBM Plex Sans"/>
              <a:sym typeface="IBM Plex Sans"/>
            </a:endParaRPr>
          </a:p>
          <a:p>
            <a:pPr marL="457200" lvl="0" indent="-342900" algn="l" rtl="0">
              <a:lnSpc>
                <a:spcPct val="150000"/>
              </a:lnSpc>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Expand the Peloton community</a:t>
            </a:r>
            <a:endParaRPr>
              <a:solidFill>
                <a:schemeClr val="lt1"/>
              </a:solidFill>
              <a:latin typeface="IBM Plex Sans"/>
              <a:ea typeface="IBM Plex Sans"/>
              <a:cs typeface="IBM Plex Sans"/>
              <a:sym typeface="IBM Plex Sans"/>
            </a:endParaRPr>
          </a:p>
          <a:p>
            <a:pPr marL="457200" lvl="0" indent="-342900" algn="l" rtl="0">
              <a:lnSpc>
                <a:spcPct val="150000"/>
              </a:lnSpc>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Increase class variety and gamify exercise</a:t>
            </a:r>
            <a:endParaRPr>
              <a:solidFill>
                <a:schemeClr val="lt1"/>
              </a:solidFill>
              <a:latin typeface="IBM Plex Sans"/>
              <a:ea typeface="IBM Plex Sans"/>
              <a:cs typeface="IBM Plex Sans"/>
              <a:sym typeface="IBM Plex Sans"/>
            </a:endParaRPr>
          </a:p>
          <a:p>
            <a:pPr marL="457200" lvl="0" indent="-342900" algn="l" rtl="0">
              <a:lnSpc>
                <a:spcPct val="150000"/>
              </a:lnSpc>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Financial stability</a:t>
            </a:r>
            <a:endParaRPr>
              <a:solidFill>
                <a:schemeClr val="lt1"/>
              </a:solidFill>
              <a:latin typeface="IBM Plex Sans"/>
              <a:ea typeface="IBM Plex Sans"/>
              <a:cs typeface="IBM Plex Sans"/>
              <a:sym typeface="IBM Plex Sans"/>
            </a:endParaRPr>
          </a:p>
          <a:p>
            <a:pPr marL="457200" lvl="0" indent="-342900" algn="l" rtl="0">
              <a:lnSpc>
                <a:spcPct val="150000"/>
              </a:lnSpc>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Make fitness fun and motivating</a:t>
            </a:r>
            <a:endParaRPr>
              <a:solidFill>
                <a:schemeClr val="lt1"/>
              </a:solidFill>
              <a:latin typeface="IBM Plex Sans"/>
              <a:ea typeface="IBM Plex Sans"/>
              <a:cs typeface="IBM Plex Sans"/>
              <a:sym typeface="IBM Plex Sans"/>
            </a:endParaRPr>
          </a:p>
          <a:p>
            <a:pPr marL="457200" lvl="0" indent="-342900" algn="l" rtl="0">
              <a:lnSpc>
                <a:spcPct val="150000"/>
              </a:lnSpc>
              <a:spcBef>
                <a:spcPts val="0"/>
              </a:spcBef>
              <a:spcAft>
                <a:spcPts val="0"/>
              </a:spcAft>
              <a:buClr>
                <a:schemeClr val="lt1"/>
              </a:buClr>
              <a:buSzPts val="1800"/>
              <a:buFont typeface="IBM Plex Sans"/>
              <a:buChar char="●"/>
            </a:pPr>
            <a:r>
              <a:rPr lang="en">
                <a:solidFill>
                  <a:schemeClr val="lt1"/>
                </a:solidFill>
                <a:latin typeface="IBM Plex Sans"/>
                <a:ea typeface="IBM Plex Sans"/>
                <a:cs typeface="IBM Plex Sans"/>
                <a:sym typeface="IBM Plex Sans"/>
              </a:rPr>
              <a:t>Maintain Peloton as the leading luxury fitness equipment brand</a:t>
            </a:r>
            <a:endParaRPr>
              <a:solidFill>
                <a:schemeClr val="lt1"/>
              </a:solidFill>
              <a:latin typeface="IBM Plex Sans"/>
              <a:ea typeface="IBM Plex Sans"/>
              <a:cs typeface="IBM Plex Sans"/>
              <a:sym typeface="IBM Plex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01"/>
        <p:cNvGrpSpPr/>
        <p:nvPr/>
      </p:nvGrpSpPr>
      <p:grpSpPr>
        <a:xfrm>
          <a:off x="0" y="0"/>
          <a:ext cx="0" cy="0"/>
          <a:chOff x="0" y="0"/>
          <a:chExt cx="0" cy="0"/>
        </a:xfrm>
      </p:grpSpPr>
      <p:sp>
        <p:nvSpPr>
          <p:cNvPr id="302" name="Google Shape;302;p34"/>
          <p:cNvSpPr/>
          <p:nvPr/>
        </p:nvSpPr>
        <p:spPr>
          <a:xfrm>
            <a:off x="2356494" y="1510525"/>
            <a:ext cx="4742700" cy="1461300"/>
          </a:xfrm>
          <a:prstGeom prst="rect">
            <a:avLst/>
          </a:prstGeom>
          <a:solidFill>
            <a:srgbClr val="A8A9AC"/>
          </a:solidFill>
          <a:ln w="9525" cap="flat" cmpd="sng">
            <a:solidFill>
              <a:srgbClr val="A8A9A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3" name="Google Shape;303;p34"/>
          <p:cNvPicPr preferRelativeResize="0"/>
          <p:nvPr/>
        </p:nvPicPr>
        <p:blipFill rotWithShape="1">
          <a:blip r:embed="rId3">
            <a:alphaModFix/>
          </a:blip>
          <a:srcRect r="75266" b="15604"/>
          <a:stretch/>
        </p:blipFill>
        <p:spPr>
          <a:xfrm>
            <a:off x="2142408" y="1784198"/>
            <a:ext cx="4742810" cy="1461277"/>
          </a:xfrm>
          <a:prstGeom prst="rect">
            <a:avLst/>
          </a:prstGeom>
          <a:noFill/>
          <a:ln>
            <a:noFill/>
          </a:ln>
        </p:spPr>
      </p:pic>
      <p:sp>
        <p:nvSpPr>
          <p:cNvPr id="304" name="Google Shape;304;p34"/>
          <p:cNvSpPr txBox="1">
            <a:spLocks noGrp="1"/>
          </p:cNvSpPr>
          <p:nvPr>
            <p:ph type="title"/>
          </p:nvPr>
        </p:nvSpPr>
        <p:spPr>
          <a:xfrm>
            <a:off x="1705825" y="1935532"/>
            <a:ext cx="5616000" cy="1210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6819" b="1">
                <a:solidFill>
                  <a:schemeClr val="lt1"/>
                </a:solidFill>
                <a:latin typeface="IBM Plex Sans"/>
                <a:ea typeface="IBM Plex Sans"/>
                <a:cs typeface="IBM Plex Sans"/>
                <a:sym typeface="IBM Plex Sans"/>
              </a:rPr>
              <a:t>Thank You</a:t>
            </a:r>
            <a:endParaRPr sz="6819" b="1">
              <a:solidFill>
                <a:schemeClr val="lt1"/>
              </a:solidFill>
              <a:latin typeface="IBM Plex Sans"/>
              <a:ea typeface="IBM Plex Sans"/>
              <a:cs typeface="IBM Plex Sans"/>
              <a:sym typeface="IBM Plex Sans"/>
            </a:endParaRPr>
          </a:p>
        </p:txBody>
      </p:sp>
      <p:pic>
        <p:nvPicPr>
          <p:cNvPr id="305" name="Google Shape;305;p3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09"/>
        <p:cNvGrpSpPr/>
        <p:nvPr/>
      </p:nvGrpSpPr>
      <p:grpSpPr>
        <a:xfrm>
          <a:off x="0" y="0"/>
          <a:ext cx="0" cy="0"/>
          <a:chOff x="0" y="0"/>
          <a:chExt cx="0" cy="0"/>
        </a:xfrm>
      </p:grpSpPr>
      <p:pic>
        <p:nvPicPr>
          <p:cNvPr id="310" name="Google Shape;310;p35"/>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sp>
        <p:nvSpPr>
          <p:cNvPr id="311" name="Google Shape;311;p35"/>
          <p:cNvSpPr/>
          <p:nvPr/>
        </p:nvSpPr>
        <p:spPr>
          <a:xfrm>
            <a:off x="2356494" y="1510525"/>
            <a:ext cx="4742700" cy="1461300"/>
          </a:xfrm>
          <a:prstGeom prst="rect">
            <a:avLst/>
          </a:prstGeom>
          <a:solidFill>
            <a:srgbClr val="A8A9AC"/>
          </a:solidFill>
          <a:ln w="9525" cap="flat" cmpd="sng">
            <a:solidFill>
              <a:srgbClr val="A8A9A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2" name="Google Shape;312;p35"/>
          <p:cNvPicPr preferRelativeResize="0"/>
          <p:nvPr/>
        </p:nvPicPr>
        <p:blipFill rotWithShape="1">
          <a:blip r:embed="rId4">
            <a:alphaModFix/>
          </a:blip>
          <a:srcRect r="75266" b="15604"/>
          <a:stretch/>
        </p:blipFill>
        <p:spPr>
          <a:xfrm>
            <a:off x="2142408" y="1784198"/>
            <a:ext cx="4742810" cy="1461277"/>
          </a:xfrm>
          <a:prstGeom prst="rect">
            <a:avLst/>
          </a:prstGeom>
          <a:noFill/>
          <a:ln>
            <a:noFill/>
          </a:ln>
        </p:spPr>
      </p:pic>
      <p:sp>
        <p:nvSpPr>
          <p:cNvPr id="313" name="Google Shape;313;p35"/>
          <p:cNvSpPr txBox="1">
            <a:spLocks noGrp="1"/>
          </p:cNvSpPr>
          <p:nvPr>
            <p:ph type="title"/>
          </p:nvPr>
        </p:nvSpPr>
        <p:spPr>
          <a:xfrm>
            <a:off x="1705825" y="1935532"/>
            <a:ext cx="5616000" cy="1210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6819" b="1">
                <a:solidFill>
                  <a:schemeClr val="lt1"/>
                </a:solidFill>
                <a:latin typeface="IBM Plex Sans"/>
                <a:ea typeface="IBM Plex Sans"/>
                <a:cs typeface="IBM Plex Sans"/>
                <a:sym typeface="IBM Plex Sans"/>
              </a:rPr>
              <a:t>Appendix</a:t>
            </a:r>
            <a:endParaRPr sz="6819" b="1">
              <a:solidFill>
                <a:schemeClr val="lt1"/>
              </a:solidFill>
              <a:latin typeface="IBM Plex Sans"/>
              <a:ea typeface="IBM Plex Sans"/>
              <a:cs typeface="IBM Plex Sans"/>
              <a:sym typeface="IBM Plex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17"/>
        <p:cNvGrpSpPr/>
        <p:nvPr/>
      </p:nvGrpSpPr>
      <p:grpSpPr>
        <a:xfrm>
          <a:off x="0" y="0"/>
          <a:ext cx="0" cy="0"/>
          <a:chOff x="0" y="0"/>
          <a:chExt cx="0" cy="0"/>
        </a:xfrm>
      </p:grpSpPr>
      <p:sp>
        <p:nvSpPr>
          <p:cNvPr id="318" name="Google Shape;318;p36"/>
          <p:cNvSpPr/>
          <p:nvPr/>
        </p:nvSpPr>
        <p:spPr>
          <a:xfrm>
            <a:off x="515825" y="223075"/>
            <a:ext cx="32406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9" name="Google Shape;319;p36"/>
          <p:cNvPicPr preferRelativeResize="0"/>
          <p:nvPr/>
        </p:nvPicPr>
        <p:blipFill rotWithShape="1">
          <a:blip r:embed="rId3">
            <a:alphaModFix/>
          </a:blip>
          <a:srcRect r="75266" b="15604"/>
          <a:stretch/>
        </p:blipFill>
        <p:spPr>
          <a:xfrm>
            <a:off x="311700" y="389125"/>
            <a:ext cx="3358101" cy="685600"/>
          </a:xfrm>
          <a:prstGeom prst="rect">
            <a:avLst/>
          </a:prstGeom>
          <a:noFill/>
          <a:ln>
            <a:noFill/>
          </a:ln>
        </p:spPr>
      </p:pic>
      <p:sp>
        <p:nvSpPr>
          <p:cNvPr id="320" name="Google Shape;320;p36"/>
          <p:cNvSpPr txBox="1">
            <a:spLocks noGrp="1"/>
          </p:cNvSpPr>
          <p:nvPr>
            <p:ph type="title"/>
          </p:nvPr>
        </p:nvSpPr>
        <p:spPr>
          <a:xfrm>
            <a:off x="515825" y="445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Hierarchy of effects</a:t>
            </a:r>
            <a:endParaRPr b="1">
              <a:solidFill>
                <a:schemeClr val="lt1"/>
              </a:solidFill>
              <a:latin typeface="IBM Plex Sans"/>
              <a:ea typeface="IBM Plex Sans"/>
              <a:cs typeface="IBM Plex Sans"/>
              <a:sym typeface="IBM Plex Sans"/>
            </a:endParaRPr>
          </a:p>
        </p:txBody>
      </p:sp>
      <p:pic>
        <p:nvPicPr>
          <p:cNvPr id="321" name="Google Shape;321;p3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pic>
        <p:nvPicPr>
          <p:cNvPr id="322" name="Google Shape;322;p3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950325" y="1133325"/>
            <a:ext cx="5172173" cy="38209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26"/>
        <p:cNvGrpSpPr/>
        <p:nvPr/>
      </p:nvGrpSpPr>
      <p:grpSpPr>
        <a:xfrm>
          <a:off x="0" y="0"/>
          <a:ext cx="0" cy="0"/>
          <a:chOff x="0" y="0"/>
          <a:chExt cx="0" cy="0"/>
        </a:xfrm>
      </p:grpSpPr>
      <p:pic>
        <p:nvPicPr>
          <p:cNvPr id="327" name="Google Shape;327;p3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pic>
        <p:nvPicPr>
          <p:cNvPr id="328" name="Google Shape;328;p3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669513" y="152400"/>
            <a:ext cx="5460818" cy="48387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32"/>
        <p:cNvGrpSpPr/>
        <p:nvPr/>
      </p:nvGrpSpPr>
      <p:grpSpPr>
        <a:xfrm>
          <a:off x="0" y="0"/>
          <a:ext cx="0" cy="0"/>
          <a:chOff x="0" y="0"/>
          <a:chExt cx="0" cy="0"/>
        </a:xfrm>
      </p:grpSpPr>
      <p:pic>
        <p:nvPicPr>
          <p:cNvPr id="333" name="Google Shape;333;p3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pic>
        <p:nvPicPr>
          <p:cNvPr id="334" name="Google Shape;334;p3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352525" y="1476950"/>
            <a:ext cx="4268477" cy="2551101"/>
          </a:xfrm>
          <a:prstGeom prst="rect">
            <a:avLst/>
          </a:prstGeom>
          <a:noFill/>
          <a:ln>
            <a:noFill/>
          </a:ln>
        </p:spPr>
      </p:pic>
      <p:pic>
        <p:nvPicPr>
          <p:cNvPr id="335" name="Google Shape;335;p38"/>
          <p:cNvPicPr preferRelativeResize="0"/>
          <p:nvPr/>
        </p:nvPicPr>
        <p:blipFill rotWithShape="1">
          <a:blip r:embed="rId5" cstate="email">
            <a:alphaModFix/>
            <a:extLst>
              <a:ext uri="{28A0092B-C50C-407E-A947-70E740481C1C}">
                <a14:useLocalDpi xmlns:a14="http://schemas.microsoft.com/office/drawing/2010/main"/>
              </a:ext>
            </a:extLst>
          </a:blip>
          <a:srcRect l="3104" t="8366" r="2831" b="7796"/>
          <a:stretch/>
        </p:blipFill>
        <p:spPr>
          <a:xfrm>
            <a:off x="539675" y="2008338"/>
            <a:ext cx="3192905" cy="1488325"/>
          </a:xfrm>
          <a:prstGeom prst="rect">
            <a:avLst/>
          </a:prstGeom>
          <a:noFill/>
          <a:ln>
            <a:noFill/>
          </a:ln>
        </p:spPr>
      </p:pic>
      <p:sp>
        <p:nvSpPr>
          <p:cNvPr id="336" name="Google Shape;336;p38"/>
          <p:cNvSpPr/>
          <p:nvPr/>
        </p:nvSpPr>
        <p:spPr>
          <a:xfrm>
            <a:off x="515825" y="223075"/>
            <a:ext cx="32406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7" name="Google Shape;337;p38"/>
          <p:cNvPicPr preferRelativeResize="0"/>
          <p:nvPr/>
        </p:nvPicPr>
        <p:blipFill rotWithShape="1">
          <a:blip r:embed="rId6">
            <a:alphaModFix/>
          </a:blip>
          <a:srcRect r="75266" b="15604"/>
          <a:stretch/>
        </p:blipFill>
        <p:spPr>
          <a:xfrm>
            <a:off x="311700" y="389125"/>
            <a:ext cx="3358101" cy="685600"/>
          </a:xfrm>
          <a:prstGeom prst="rect">
            <a:avLst/>
          </a:prstGeom>
          <a:noFill/>
          <a:ln>
            <a:noFill/>
          </a:ln>
        </p:spPr>
      </p:pic>
      <p:sp>
        <p:nvSpPr>
          <p:cNvPr id="338" name="Google Shape;338;p38"/>
          <p:cNvSpPr txBox="1">
            <a:spLocks noGrp="1"/>
          </p:cNvSpPr>
          <p:nvPr>
            <p:ph type="title"/>
          </p:nvPr>
        </p:nvSpPr>
        <p:spPr>
          <a:xfrm>
            <a:off x="515825" y="445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Product Offerings </a:t>
            </a:r>
            <a:endParaRPr b="1">
              <a:solidFill>
                <a:schemeClr val="lt1"/>
              </a:solidFill>
              <a:latin typeface="IBM Plex Sans"/>
              <a:ea typeface="IBM Plex Sans"/>
              <a:cs typeface="IBM Plex Sans"/>
              <a:sym typeface="IBM Plex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42"/>
        <p:cNvGrpSpPr/>
        <p:nvPr/>
      </p:nvGrpSpPr>
      <p:grpSpPr>
        <a:xfrm>
          <a:off x="0" y="0"/>
          <a:ext cx="0" cy="0"/>
          <a:chOff x="0" y="0"/>
          <a:chExt cx="0" cy="0"/>
        </a:xfrm>
      </p:grpSpPr>
      <p:pic>
        <p:nvPicPr>
          <p:cNvPr id="343" name="Google Shape;343;p3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548125" y="4646626"/>
            <a:ext cx="1541224" cy="453350"/>
          </a:xfrm>
          <a:prstGeom prst="rect">
            <a:avLst/>
          </a:prstGeom>
          <a:noFill/>
          <a:ln>
            <a:noFill/>
          </a:ln>
        </p:spPr>
      </p:pic>
      <p:sp>
        <p:nvSpPr>
          <p:cNvPr id="344" name="Google Shape;344;p39"/>
          <p:cNvSpPr/>
          <p:nvPr/>
        </p:nvSpPr>
        <p:spPr>
          <a:xfrm>
            <a:off x="515825" y="223075"/>
            <a:ext cx="32406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5" name="Google Shape;345;p39"/>
          <p:cNvPicPr preferRelativeResize="0"/>
          <p:nvPr/>
        </p:nvPicPr>
        <p:blipFill rotWithShape="1">
          <a:blip r:embed="rId4">
            <a:alphaModFix/>
          </a:blip>
          <a:srcRect r="75266" b="15604"/>
          <a:stretch/>
        </p:blipFill>
        <p:spPr>
          <a:xfrm>
            <a:off x="311700" y="389125"/>
            <a:ext cx="3358101" cy="685600"/>
          </a:xfrm>
          <a:prstGeom prst="rect">
            <a:avLst/>
          </a:prstGeom>
          <a:noFill/>
          <a:ln>
            <a:noFill/>
          </a:ln>
        </p:spPr>
      </p:pic>
      <p:sp>
        <p:nvSpPr>
          <p:cNvPr id="346" name="Google Shape;346;p39"/>
          <p:cNvSpPr txBox="1">
            <a:spLocks noGrp="1"/>
          </p:cNvSpPr>
          <p:nvPr>
            <p:ph type="title"/>
          </p:nvPr>
        </p:nvSpPr>
        <p:spPr>
          <a:xfrm>
            <a:off x="515825" y="445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latin typeface="IBM Plex Sans"/>
                <a:ea typeface="IBM Plex Sans"/>
                <a:cs typeface="IBM Plex Sans"/>
                <a:sym typeface="IBM Plex Sans"/>
              </a:rPr>
              <a:t>PESTEL</a:t>
            </a:r>
            <a:endParaRPr b="1">
              <a:solidFill>
                <a:schemeClr val="lt1"/>
              </a:solidFill>
              <a:latin typeface="IBM Plex Sans"/>
              <a:ea typeface="IBM Plex Sans"/>
              <a:cs typeface="IBM Plex Sans"/>
              <a:sym typeface="IBM Plex Sans"/>
            </a:endParaRPr>
          </a:p>
        </p:txBody>
      </p:sp>
      <p:pic>
        <p:nvPicPr>
          <p:cNvPr id="347" name="Google Shape;347;p3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443450" y="1165150"/>
            <a:ext cx="6041178" cy="37639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51"/>
        <p:cNvGrpSpPr/>
        <p:nvPr/>
      </p:nvGrpSpPr>
      <p:grpSpPr>
        <a:xfrm>
          <a:off x="0" y="0"/>
          <a:ext cx="0" cy="0"/>
          <a:chOff x="0" y="0"/>
          <a:chExt cx="0" cy="0"/>
        </a:xfrm>
      </p:grpSpPr>
      <p:sp>
        <p:nvSpPr>
          <p:cNvPr id="352" name="Google Shape;352;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pic>
        <p:nvPicPr>
          <p:cNvPr id="353" name="Google Shape;353;p40"/>
          <p:cNvPicPr preferRelativeResize="0"/>
          <p:nvPr/>
        </p:nvPicPr>
        <p:blipFill rotWithShape="1">
          <a:blip r:embed="rId3" cstate="email">
            <a:alphaModFix/>
            <a:extLst>
              <a:ext uri="{28A0092B-C50C-407E-A947-70E740481C1C}">
                <a14:useLocalDpi xmlns:a14="http://schemas.microsoft.com/office/drawing/2010/main"/>
              </a:ext>
            </a:extLst>
          </a:blip>
          <a:srcRect t="1302"/>
          <a:stretch/>
        </p:blipFill>
        <p:spPr>
          <a:xfrm>
            <a:off x="2557200" y="1197800"/>
            <a:ext cx="4437851" cy="3713351"/>
          </a:xfrm>
          <a:prstGeom prst="rect">
            <a:avLst/>
          </a:prstGeom>
          <a:noFill/>
          <a:ln>
            <a:noFill/>
          </a:ln>
        </p:spPr>
      </p:pic>
      <p:sp>
        <p:nvSpPr>
          <p:cNvPr id="354" name="Google Shape;354;p40"/>
          <p:cNvSpPr/>
          <p:nvPr/>
        </p:nvSpPr>
        <p:spPr>
          <a:xfrm>
            <a:off x="515825" y="223075"/>
            <a:ext cx="32406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5" name="Google Shape;355;p40"/>
          <p:cNvPicPr preferRelativeResize="0"/>
          <p:nvPr/>
        </p:nvPicPr>
        <p:blipFill rotWithShape="1">
          <a:blip r:embed="rId4">
            <a:alphaModFix/>
          </a:blip>
          <a:srcRect r="75266" b="15604"/>
          <a:stretch/>
        </p:blipFill>
        <p:spPr>
          <a:xfrm>
            <a:off x="311700" y="389125"/>
            <a:ext cx="3358101" cy="685600"/>
          </a:xfrm>
          <a:prstGeom prst="rect">
            <a:avLst/>
          </a:prstGeom>
          <a:noFill/>
          <a:ln>
            <a:noFill/>
          </a:ln>
        </p:spPr>
      </p:pic>
      <p:sp>
        <p:nvSpPr>
          <p:cNvPr id="356" name="Google Shape;356;p40"/>
          <p:cNvSpPr txBox="1">
            <a:spLocks noGrp="1"/>
          </p:cNvSpPr>
          <p:nvPr>
            <p:ph type="title"/>
          </p:nvPr>
        </p:nvSpPr>
        <p:spPr>
          <a:xfrm>
            <a:off x="515825" y="445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a:solidFill>
                  <a:schemeClr val="lt1"/>
                </a:solidFill>
                <a:latin typeface="IBM Plex Sans"/>
                <a:ea typeface="IBM Plex Sans"/>
                <a:cs typeface="IBM Plex Sans"/>
                <a:sym typeface="IBM Plex Sans"/>
              </a:rPr>
              <a:t>Differentiators</a:t>
            </a:r>
            <a:endParaRPr b="1">
              <a:solidFill>
                <a:schemeClr val="lt1"/>
              </a:solidFill>
              <a:latin typeface="IBM Plex Sans"/>
              <a:ea typeface="IBM Plex Sans"/>
              <a:cs typeface="IBM Plex Sans"/>
              <a:sym typeface="IBM Plex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60"/>
        <p:cNvGrpSpPr/>
        <p:nvPr/>
      </p:nvGrpSpPr>
      <p:grpSpPr>
        <a:xfrm>
          <a:off x="0" y="0"/>
          <a:ext cx="0" cy="0"/>
          <a:chOff x="0" y="0"/>
          <a:chExt cx="0" cy="0"/>
        </a:xfrm>
      </p:grpSpPr>
      <p:sp>
        <p:nvSpPr>
          <p:cNvPr id="361" name="Google Shape;361;p41"/>
          <p:cNvSpPr txBox="1">
            <a:spLocks noGrp="1"/>
          </p:cNvSpPr>
          <p:nvPr>
            <p:ph type="body" idx="1"/>
          </p:nvPr>
        </p:nvSpPr>
        <p:spPr>
          <a:xfrm>
            <a:off x="3903000" y="1703475"/>
            <a:ext cx="4929300" cy="27306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lt1"/>
              </a:buClr>
              <a:buSzPts val="1800"/>
              <a:buChar char="●"/>
            </a:pPr>
            <a:r>
              <a:rPr lang="en">
                <a:solidFill>
                  <a:schemeClr val="lt1"/>
                </a:solidFill>
              </a:rPr>
              <a:t>Access to all devices, content and studios</a:t>
            </a:r>
            <a:endParaRPr>
              <a:solidFill>
                <a:schemeClr val="lt1"/>
              </a:solidFill>
            </a:endParaRPr>
          </a:p>
          <a:p>
            <a:pPr marL="457200" lvl="0" indent="-342900" algn="l" rtl="0">
              <a:spcBef>
                <a:spcPts val="0"/>
              </a:spcBef>
              <a:spcAft>
                <a:spcPts val="0"/>
              </a:spcAft>
              <a:buClr>
                <a:schemeClr val="lt1"/>
              </a:buClr>
              <a:buSzPts val="1800"/>
              <a:buChar char="●"/>
            </a:pPr>
            <a:r>
              <a:rPr lang="en">
                <a:solidFill>
                  <a:schemeClr val="lt1"/>
                </a:solidFill>
              </a:rPr>
              <a:t>Opportunity to bring nonmember for fee</a:t>
            </a:r>
            <a:endParaRPr>
              <a:solidFill>
                <a:schemeClr val="lt1"/>
              </a:solidFill>
            </a:endParaRPr>
          </a:p>
          <a:p>
            <a:pPr marL="457200" lvl="0" indent="-342900" algn="l" rtl="0">
              <a:spcBef>
                <a:spcPts val="0"/>
              </a:spcBef>
              <a:spcAft>
                <a:spcPts val="0"/>
              </a:spcAft>
              <a:buClr>
                <a:schemeClr val="lt1"/>
              </a:buClr>
              <a:buSzPts val="1800"/>
              <a:buChar char="●"/>
            </a:pPr>
            <a:r>
              <a:rPr lang="en">
                <a:solidFill>
                  <a:schemeClr val="lt1"/>
                </a:solidFill>
              </a:rPr>
              <a:t>In person classes (booked in advance)</a:t>
            </a:r>
            <a:endParaRPr>
              <a:solidFill>
                <a:schemeClr val="lt1"/>
              </a:solidFill>
            </a:endParaRPr>
          </a:p>
          <a:p>
            <a:pPr marL="457200" lvl="0" indent="-342900" algn="l" rtl="0">
              <a:spcBef>
                <a:spcPts val="0"/>
              </a:spcBef>
              <a:spcAft>
                <a:spcPts val="0"/>
              </a:spcAft>
              <a:buClr>
                <a:schemeClr val="lt1"/>
              </a:buClr>
              <a:buSzPts val="1800"/>
              <a:buChar char="●"/>
            </a:pPr>
            <a:r>
              <a:rPr lang="en">
                <a:solidFill>
                  <a:schemeClr val="lt1"/>
                </a:solidFill>
              </a:rPr>
              <a:t>Access to events, education, etc in studio</a:t>
            </a:r>
            <a:endParaRPr>
              <a:solidFill>
                <a:schemeClr val="lt1"/>
              </a:solidFill>
            </a:endParaRPr>
          </a:p>
          <a:p>
            <a:pPr marL="457200" lvl="0" indent="-342900" algn="l" rtl="0">
              <a:spcBef>
                <a:spcPts val="0"/>
              </a:spcBef>
              <a:spcAft>
                <a:spcPts val="0"/>
              </a:spcAft>
              <a:buClr>
                <a:schemeClr val="lt1"/>
              </a:buClr>
              <a:buSzPts val="1800"/>
              <a:buChar char="●"/>
            </a:pPr>
            <a:r>
              <a:rPr lang="en">
                <a:solidFill>
                  <a:schemeClr val="lt1"/>
                </a:solidFill>
              </a:rPr>
              <a:t>Ability to compete on platform</a:t>
            </a:r>
            <a:endParaRPr>
              <a:solidFill>
                <a:schemeClr val="lt1"/>
              </a:solidFill>
            </a:endParaRPr>
          </a:p>
          <a:p>
            <a:pPr marL="457200" lvl="0" indent="-342900" algn="l" rtl="0">
              <a:spcBef>
                <a:spcPts val="0"/>
              </a:spcBef>
              <a:spcAft>
                <a:spcPts val="0"/>
              </a:spcAft>
              <a:buClr>
                <a:schemeClr val="lt1"/>
              </a:buClr>
              <a:buSzPts val="1800"/>
              <a:buChar char="●"/>
            </a:pPr>
            <a:r>
              <a:rPr lang="en">
                <a:solidFill>
                  <a:schemeClr val="lt1"/>
                </a:solidFill>
              </a:rPr>
              <a:t>Studio amenities</a:t>
            </a:r>
            <a:endParaRPr>
              <a:solidFill>
                <a:schemeClr val="lt1"/>
              </a:solidFill>
            </a:endParaRPr>
          </a:p>
          <a:p>
            <a:pPr marL="457200" lvl="0" indent="0" algn="l" rtl="0">
              <a:spcBef>
                <a:spcPts val="1200"/>
              </a:spcBef>
              <a:spcAft>
                <a:spcPts val="0"/>
              </a:spcAft>
              <a:buNone/>
            </a:pPr>
            <a:endParaRPr>
              <a:solidFill>
                <a:schemeClr val="lt1"/>
              </a:solidFill>
            </a:endParaRPr>
          </a:p>
          <a:p>
            <a:pPr marL="457200" lvl="0" indent="0" algn="l" rtl="0">
              <a:spcBef>
                <a:spcPts val="1200"/>
              </a:spcBef>
              <a:spcAft>
                <a:spcPts val="1200"/>
              </a:spcAft>
              <a:buNone/>
            </a:pPr>
            <a:endParaRPr>
              <a:solidFill>
                <a:schemeClr val="lt1"/>
              </a:solidFill>
            </a:endParaRPr>
          </a:p>
        </p:txBody>
      </p:sp>
      <p:pic>
        <p:nvPicPr>
          <p:cNvPr id="362" name="Google Shape;362;p41"/>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11700" y="1347763"/>
            <a:ext cx="3225025" cy="2861125"/>
          </a:xfrm>
          <a:prstGeom prst="rect">
            <a:avLst/>
          </a:prstGeom>
          <a:noFill/>
          <a:ln>
            <a:noFill/>
          </a:ln>
        </p:spPr>
      </p:pic>
      <p:sp>
        <p:nvSpPr>
          <p:cNvPr id="363" name="Google Shape;363;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64" name="Google Shape;364;p41"/>
          <p:cNvSpPr/>
          <p:nvPr/>
        </p:nvSpPr>
        <p:spPr>
          <a:xfrm>
            <a:off x="515825" y="223075"/>
            <a:ext cx="55263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65" name="Google Shape;365;p41"/>
          <p:cNvPicPr preferRelativeResize="0"/>
          <p:nvPr/>
        </p:nvPicPr>
        <p:blipFill rotWithShape="1">
          <a:blip r:embed="rId4">
            <a:alphaModFix/>
          </a:blip>
          <a:srcRect r="75266" b="15604"/>
          <a:stretch/>
        </p:blipFill>
        <p:spPr>
          <a:xfrm>
            <a:off x="311700" y="389125"/>
            <a:ext cx="5585774" cy="685600"/>
          </a:xfrm>
          <a:prstGeom prst="rect">
            <a:avLst/>
          </a:prstGeom>
          <a:noFill/>
          <a:ln>
            <a:noFill/>
          </a:ln>
        </p:spPr>
      </p:pic>
      <p:sp>
        <p:nvSpPr>
          <p:cNvPr id="366" name="Google Shape;366;p41"/>
          <p:cNvSpPr txBox="1">
            <a:spLocks noGrp="1"/>
          </p:cNvSpPr>
          <p:nvPr>
            <p:ph type="title"/>
          </p:nvPr>
        </p:nvSpPr>
        <p:spPr>
          <a:xfrm>
            <a:off x="515825" y="445575"/>
            <a:ext cx="5319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rPr>
              <a:t>New Top Tier Subscription Model</a:t>
            </a:r>
            <a:endParaRPr b="1">
              <a:solidFill>
                <a:schemeClr val="lt1"/>
              </a:solidFill>
              <a:latin typeface="IBM Plex Sans"/>
              <a:ea typeface="IBM Plex Sans"/>
              <a:cs typeface="IBM Plex Sans"/>
              <a:sym typeface="IBM Plex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70"/>
        <p:cNvGrpSpPr/>
        <p:nvPr/>
      </p:nvGrpSpPr>
      <p:grpSpPr>
        <a:xfrm>
          <a:off x="0" y="0"/>
          <a:ext cx="0" cy="0"/>
          <a:chOff x="0" y="0"/>
          <a:chExt cx="0" cy="0"/>
        </a:xfrm>
      </p:grpSpPr>
      <p:pic>
        <p:nvPicPr>
          <p:cNvPr id="371" name="Google Shape;371;p42"/>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2057049" y="1354175"/>
            <a:ext cx="5438175" cy="3136050"/>
          </a:xfrm>
          <a:prstGeom prst="rect">
            <a:avLst/>
          </a:prstGeom>
          <a:noFill/>
          <a:ln>
            <a:noFill/>
          </a:ln>
        </p:spPr>
      </p:pic>
      <p:sp>
        <p:nvSpPr>
          <p:cNvPr id="372" name="Google Shape;372;p42"/>
          <p:cNvSpPr txBox="1"/>
          <p:nvPr/>
        </p:nvSpPr>
        <p:spPr>
          <a:xfrm>
            <a:off x="3066713" y="4490225"/>
            <a:ext cx="3418800" cy="612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Clr>
                <a:schemeClr val="dk1"/>
              </a:buClr>
              <a:buSzPts val="1100"/>
              <a:buFont typeface="Arial"/>
              <a:buNone/>
            </a:pPr>
            <a:r>
              <a:rPr lang="en" sz="1200">
                <a:solidFill>
                  <a:schemeClr val="lt1"/>
                </a:solidFill>
                <a:latin typeface="Times New Roman"/>
                <a:ea typeface="Times New Roman"/>
                <a:cs typeface="Times New Roman"/>
                <a:sym typeface="Times New Roman"/>
              </a:rPr>
              <a:t>Peloton Stock price chart</a:t>
            </a:r>
            <a:endParaRPr sz="1200">
              <a:solidFill>
                <a:schemeClr val="lt1"/>
              </a:solidFill>
              <a:latin typeface="Times New Roman"/>
              <a:ea typeface="Times New Roman"/>
              <a:cs typeface="Times New Roman"/>
              <a:sym typeface="Times New Roman"/>
            </a:endParaRPr>
          </a:p>
          <a:p>
            <a:pPr marL="0" lvl="0" indent="0" algn="l" rtl="0">
              <a:spcBef>
                <a:spcPts val="0"/>
              </a:spcBef>
              <a:spcAft>
                <a:spcPts val="0"/>
              </a:spcAft>
              <a:buNone/>
            </a:pPr>
            <a:endParaRPr>
              <a:solidFill>
                <a:schemeClr val="lt1"/>
              </a:solidFill>
            </a:endParaRPr>
          </a:p>
        </p:txBody>
      </p:sp>
      <p:sp>
        <p:nvSpPr>
          <p:cNvPr id="373" name="Google Shape;373;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74" name="Google Shape;374;p42"/>
          <p:cNvSpPr/>
          <p:nvPr/>
        </p:nvSpPr>
        <p:spPr>
          <a:xfrm>
            <a:off x="515825" y="223075"/>
            <a:ext cx="32406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5" name="Google Shape;375;p42"/>
          <p:cNvPicPr preferRelativeResize="0"/>
          <p:nvPr/>
        </p:nvPicPr>
        <p:blipFill rotWithShape="1">
          <a:blip r:embed="rId4">
            <a:alphaModFix/>
          </a:blip>
          <a:srcRect r="75266" b="15604"/>
          <a:stretch/>
        </p:blipFill>
        <p:spPr>
          <a:xfrm>
            <a:off x="311700" y="389125"/>
            <a:ext cx="3358101" cy="685600"/>
          </a:xfrm>
          <a:prstGeom prst="rect">
            <a:avLst/>
          </a:prstGeom>
          <a:noFill/>
          <a:ln>
            <a:noFill/>
          </a:ln>
        </p:spPr>
      </p:pic>
      <p:sp>
        <p:nvSpPr>
          <p:cNvPr id="376" name="Google Shape;376;p42"/>
          <p:cNvSpPr txBox="1">
            <a:spLocks noGrp="1"/>
          </p:cNvSpPr>
          <p:nvPr>
            <p:ph type="title"/>
          </p:nvPr>
        </p:nvSpPr>
        <p:spPr>
          <a:xfrm>
            <a:off x="515825" y="445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rPr>
              <a:t>Peloton Stock</a:t>
            </a:r>
            <a:endParaRPr b="1">
              <a:solidFill>
                <a:schemeClr val="lt1"/>
              </a:solidFill>
              <a:latin typeface="IBM Plex Sans"/>
              <a:ea typeface="IBM Plex Sans"/>
              <a:cs typeface="IBM Plex Sans"/>
              <a:sym typeface="IBM Plex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80"/>
        <p:cNvGrpSpPr/>
        <p:nvPr/>
      </p:nvGrpSpPr>
      <p:grpSpPr>
        <a:xfrm>
          <a:off x="0" y="0"/>
          <a:ext cx="0" cy="0"/>
          <a:chOff x="0" y="0"/>
          <a:chExt cx="0" cy="0"/>
        </a:xfrm>
      </p:grpSpPr>
      <p:sp>
        <p:nvSpPr>
          <p:cNvPr id="381" name="Google Shape;381;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82" name="Google Shape;382;p43"/>
          <p:cNvSpPr/>
          <p:nvPr/>
        </p:nvSpPr>
        <p:spPr>
          <a:xfrm>
            <a:off x="515825" y="223075"/>
            <a:ext cx="57432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83" name="Google Shape;383;p43"/>
          <p:cNvPicPr preferRelativeResize="0"/>
          <p:nvPr/>
        </p:nvPicPr>
        <p:blipFill rotWithShape="1">
          <a:blip r:embed="rId3">
            <a:alphaModFix/>
          </a:blip>
          <a:srcRect r="75266" b="15604"/>
          <a:stretch/>
        </p:blipFill>
        <p:spPr>
          <a:xfrm>
            <a:off x="311700" y="389125"/>
            <a:ext cx="5813000" cy="685600"/>
          </a:xfrm>
          <a:prstGeom prst="rect">
            <a:avLst/>
          </a:prstGeom>
          <a:noFill/>
          <a:ln>
            <a:noFill/>
          </a:ln>
        </p:spPr>
      </p:pic>
      <p:sp>
        <p:nvSpPr>
          <p:cNvPr id="384" name="Google Shape;384;p43"/>
          <p:cNvSpPr txBox="1">
            <a:spLocks noGrp="1"/>
          </p:cNvSpPr>
          <p:nvPr>
            <p:ph type="title"/>
          </p:nvPr>
        </p:nvSpPr>
        <p:spPr>
          <a:xfrm>
            <a:off x="515825" y="445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rPr>
              <a:t>Competitor Stock - Technogym</a:t>
            </a:r>
            <a:endParaRPr b="1">
              <a:solidFill>
                <a:schemeClr val="lt1"/>
              </a:solidFill>
              <a:latin typeface="IBM Plex Sans"/>
              <a:ea typeface="IBM Plex Sans"/>
              <a:cs typeface="IBM Plex Sans"/>
              <a:sym typeface="IBM Plex Sans"/>
            </a:endParaRPr>
          </a:p>
        </p:txBody>
      </p:sp>
      <p:pic>
        <p:nvPicPr>
          <p:cNvPr id="385" name="Google Shape;385;p4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939200" y="1402700"/>
            <a:ext cx="5570322" cy="31107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89"/>
        <p:cNvGrpSpPr/>
        <p:nvPr/>
      </p:nvGrpSpPr>
      <p:grpSpPr>
        <a:xfrm>
          <a:off x="0" y="0"/>
          <a:ext cx="0" cy="0"/>
          <a:chOff x="0" y="0"/>
          <a:chExt cx="0" cy="0"/>
        </a:xfrm>
      </p:grpSpPr>
      <p:sp>
        <p:nvSpPr>
          <p:cNvPr id="390" name="Google Shape;390;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91" name="Google Shape;391;p44"/>
          <p:cNvSpPr/>
          <p:nvPr/>
        </p:nvSpPr>
        <p:spPr>
          <a:xfrm>
            <a:off x="515825" y="223075"/>
            <a:ext cx="5743200" cy="685500"/>
          </a:xfrm>
          <a:prstGeom prst="rect">
            <a:avLst/>
          </a:prstGeom>
          <a:solidFill>
            <a:srgbClr val="A8A9A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2" name="Google Shape;392;p44"/>
          <p:cNvPicPr preferRelativeResize="0"/>
          <p:nvPr/>
        </p:nvPicPr>
        <p:blipFill rotWithShape="1">
          <a:blip r:embed="rId3">
            <a:alphaModFix/>
          </a:blip>
          <a:srcRect r="75266" b="15604"/>
          <a:stretch/>
        </p:blipFill>
        <p:spPr>
          <a:xfrm>
            <a:off x="311700" y="389125"/>
            <a:ext cx="5813000" cy="685600"/>
          </a:xfrm>
          <a:prstGeom prst="rect">
            <a:avLst/>
          </a:prstGeom>
          <a:noFill/>
          <a:ln>
            <a:noFill/>
          </a:ln>
        </p:spPr>
      </p:pic>
      <p:sp>
        <p:nvSpPr>
          <p:cNvPr id="393" name="Google Shape;393;p44"/>
          <p:cNvSpPr txBox="1">
            <a:spLocks noGrp="1"/>
          </p:cNvSpPr>
          <p:nvPr>
            <p:ph type="title"/>
          </p:nvPr>
        </p:nvSpPr>
        <p:spPr>
          <a:xfrm>
            <a:off x="515825" y="445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chemeClr val="lt1"/>
                </a:solidFill>
              </a:rPr>
              <a:t>Competitor Stock - Nautilus</a:t>
            </a:r>
            <a:endParaRPr b="1">
              <a:solidFill>
                <a:schemeClr val="lt1"/>
              </a:solidFill>
              <a:latin typeface="IBM Plex Sans"/>
              <a:ea typeface="IBM Plex Sans"/>
              <a:cs typeface="IBM Plex Sans"/>
              <a:sym typeface="IBM Plex Sans"/>
            </a:endParaRPr>
          </a:p>
        </p:txBody>
      </p:sp>
      <p:pic>
        <p:nvPicPr>
          <p:cNvPr id="394" name="Google Shape;394;p4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2021825" y="1268425"/>
            <a:ext cx="5894451" cy="313142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2332</Words>
  <Application>Microsoft Macintosh PowerPoint</Application>
  <PresentationFormat>On-screen Show (16:9)</PresentationFormat>
  <Paragraphs>211</Paragraphs>
  <Slides>31</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Roboto</vt:lpstr>
      <vt:lpstr>Arial</vt:lpstr>
      <vt:lpstr>Times New Roman</vt:lpstr>
      <vt:lpstr>IBM Plex Sans</vt:lpstr>
      <vt:lpstr>Simple Light</vt:lpstr>
      <vt:lpstr>PowerPoint Presentation</vt:lpstr>
      <vt:lpstr>Peloton</vt:lpstr>
      <vt:lpstr>Products / Services</vt:lpstr>
      <vt:lpstr>Products / Services</vt:lpstr>
      <vt:lpstr>Peloton SWOT Analysis </vt:lpstr>
      <vt:lpstr>Connected Fitness Industry</vt:lpstr>
      <vt:lpstr>Competitors</vt:lpstr>
      <vt:lpstr>Post Pandemic Usage Declines</vt:lpstr>
      <vt:lpstr> Reasons for Attrition </vt:lpstr>
      <vt:lpstr>Recent Rebranding Efforts</vt:lpstr>
      <vt:lpstr>Proposed Rebranding</vt:lpstr>
      <vt:lpstr>Differentiators</vt:lpstr>
      <vt:lpstr>Luxury Fitness Club</vt:lpstr>
      <vt:lpstr>Peloton Community </vt:lpstr>
      <vt:lpstr>Gamification </vt:lpstr>
      <vt:lpstr>Targeted Customer Segments and Value Proposition </vt:lpstr>
      <vt:lpstr>Product</vt:lpstr>
      <vt:lpstr>Success Metrics</vt:lpstr>
      <vt:lpstr>Risks Involved</vt:lpstr>
      <vt:lpstr>Conclusion</vt:lpstr>
      <vt:lpstr>Thank You</vt:lpstr>
      <vt:lpstr>Appendix</vt:lpstr>
      <vt:lpstr>Hierarchy of effects</vt:lpstr>
      <vt:lpstr>PowerPoint Presentation</vt:lpstr>
      <vt:lpstr>Product Offerings </vt:lpstr>
      <vt:lpstr>PESTEL</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Microsoft Office User</cp:lastModifiedBy>
  <cp:revision>3</cp:revision>
  <dcterms:modified xsi:type="dcterms:W3CDTF">2023-08-11T16:39:32Z</dcterms:modified>
</cp:coreProperties>
</file>